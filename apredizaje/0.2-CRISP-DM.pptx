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26" r:id="rId3"/>
    <p:sldId id="325" r:id="rId4"/>
    <p:sldId id="327" r:id="rId5"/>
    <p:sldId id="331" r:id="rId6"/>
    <p:sldId id="335" r:id="rId7"/>
    <p:sldId id="332" r:id="rId8"/>
    <p:sldId id="333" r:id="rId9"/>
    <p:sldId id="336" r:id="rId10"/>
    <p:sldId id="334" r:id="rId11"/>
    <p:sldId id="337" r:id="rId12"/>
    <p:sldId id="338" r:id="rId13"/>
    <p:sldId id="347" r:id="rId14"/>
    <p:sldId id="340" r:id="rId15"/>
    <p:sldId id="341" r:id="rId16"/>
    <p:sldId id="342" r:id="rId17"/>
    <p:sldId id="345" r:id="rId18"/>
    <p:sldId id="344" r:id="rId19"/>
    <p:sldId id="310" r:id="rId20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E00"/>
    <a:srgbClr val="CCCC00"/>
    <a:srgbClr val="FFCCFF"/>
    <a:srgbClr val="CCFFCC"/>
    <a:srgbClr val="F6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B03B9-3B33-46FA-876D-31C9E9E25C11}" v="4" dt="2026-01-19T19:24:45.86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85593" autoAdjust="0"/>
  </p:normalViewPr>
  <p:slideViewPr>
    <p:cSldViewPr>
      <p:cViewPr varScale="1">
        <p:scale>
          <a:sx n="95" d="100"/>
          <a:sy n="95" d="100"/>
        </p:scale>
        <p:origin x="1662" y="72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GRACIA BOROBIA" userId="bb361f61-d90b-4261-91df-891e2f0c5abe" providerId="ADAL" clId="{E42CE336-B86E-4034-816D-9DC89E1988DB}"/>
    <pc:docChg chg="custSel delSld modSld sldOrd">
      <pc:chgData name="SERGIO GRACIA BOROBIA" userId="bb361f61-d90b-4261-91df-891e2f0c5abe" providerId="ADAL" clId="{E42CE336-B86E-4034-816D-9DC89E1988DB}" dt="2026-01-23T19:03:26.001" v="63" actId="1076"/>
      <pc:docMkLst>
        <pc:docMk/>
      </pc:docMkLst>
      <pc:sldChg chg="modSp mod">
        <pc:chgData name="SERGIO GRACIA BOROBIA" userId="bb361f61-d90b-4261-91df-891e2f0c5abe" providerId="ADAL" clId="{E42CE336-B86E-4034-816D-9DC89E1988DB}" dt="2026-01-16T19:58:03.617" v="8"/>
        <pc:sldMkLst>
          <pc:docMk/>
          <pc:sldMk cId="0" sldId="256"/>
        </pc:sldMkLst>
        <pc:spChg chg="mod">
          <ac:chgData name="SERGIO GRACIA BOROBIA" userId="bb361f61-d90b-4261-91df-891e2f0c5abe" providerId="ADAL" clId="{E42CE336-B86E-4034-816D-9DC89E1988DB}" dt="2026-01-16T19:58:03.617" v="8"/>
          <ac:spMkLst>
            <pc:docMk/>
            <pc:sldMk cId="0" sldId="256"/>
            <ac:spMk id="3" creationId="{498E3EBF-5C85-4B77-9974-A174B730CDE8}"/>
          </ac:spMkLst>
        </pc:spChg>
      </pc:sldChg>
      <pc:sldChg chg="modSp">
        <pc:chgData name="SERGIO GRACIA BOROBIA" userId="bb361f61-d90b-4261-91df-891e2f0c5abe" providerId="ADAL" clId="{E42CE336-B86E-4034-816D-9DC89E1988DB}" dt="2026-01-19T19:24:26.397" v="18" actId="20577"/>
        <pc:sldMkLst>
          <pc:docMk/>
          <pc:sldMk cId="2418088447" sldId="333"/>
        </pc:sldMkLst>
        <pc:spChg chg="mod">
          <ac:chgData name="SERGIO GRACIA BOROBIA" userId="bb361f61-d90b-4261-91df-891e2f0c5abe" providerId="ADAL" clId="{E42CE336-B86E-4034-816D-9DC89E1988DB}" dt="2026-01-19T19:24:26.397" v="18" actId="20577"/>
          <ac:spMkLst>
            <pc:docMk/>
            <pc:sldMk cId="2418088447" sldId="333"/>
            <ac:spMk id="5" creationId="{48DF57CB-9512-85B4-CF9B-3BF64D740E6B}"/>
          </ac:spMkLst>
        </pc:spChg>
      </pc:sldChg>
      <pc:sldChg chg="delSp mod delAnim">
        <pc:chgData name="SERGIO GRACIA BOROBIA" userId="bb361f61-d90b-4261-91df-891e2f0c5abe" providerId="ADAL" clId="{E42CE336-B86E-4034-816D-9DC89E1988DB}" dt="2026-01-19T19:24:53.554" v="24" actId="478"/>
        <pc:sldMkLst>
          <pc:docMk/>
          <pc:sldMk cId="1161410492" sldId="335"/>
        </pc:sldMkLst>
      </pc:sldChg>
      <pc:sldChg chg="delSp modSp mod delAnim">
        <pc:chgData name="SERGIO GRACIA BOROBIA" userId="bb361f61-d90b-4261-91df-891e2f0c5abe" providerId="ADAL" clId="{E42CE336-B86E-4034-816D-9DC89E1988DB}" dt="2026-01-19T19:24:46.427" v="22" actId="478"/>
        <pc:sldMkLst>
          <pc:docMk/>
          <pc:sldMk cId="1541750779" sldId="336"/>
        </pc:sldMkLst>
      </pc:sldChg>
      <pc:sldChg chg="delSp mod delAnim">
        <pc:chgData name="SERGIO GRACIA BOROBIA" userId="bb361f61-d90b-4261-91df-891e2f0c5abe" providerId="ADAL" clId="{E42CE336-B86E-4034-816D-9DC89E1988DB}" dt="2026-01-19T19:25:04.882" v="26" actId="478"/>
        <pc:sldMkLst>
          <pc:docMk/>
          <pc:sldMk cId="984934502" sldId="337"/>
        </pc:sldMkLst>
      </pc:sldChg>
      <pc:sldChg chg="modSp mod">
        <pc:chgData name="SERGIO GRACIA BOROBIA" userId="bb361f61-d90b-4261-91df-891e2f0c5abe" providerId="ADAL" clId="{E42CE336-B86E-4034-816D-9DC89E1988DB}" dt="2026-01-23T19:03:26.001" v="63" actId="1076"/>
        <pc:sldMkLst>
          <pc:docMk/>
          <pc:sldMk cId="4015322257" sldId="340"/>
        </pc:sldMkLst>
        <pc:spChg chg="mod">
          <ac:chgData name="SERGIO GRACIA BOROBIA" userId="bb361f61-d90b-4261-91df-891e2f0c5abe" providerId="ADAL" clId="{E42CE336-B86E-4034-816D-9DC89E1988DB}" dt="2026-01-23T19:03:26.001" v="63" actId="1076"/>
          <ac:spMkLst>
            <pc:docMk/>
            <pc:sldMk cId="4015322257" sldId="340"/>
            <ac:spMk id="6" creationId="{5332FAD5-77E2-9E18-1D42-5F7E401DA4D9}"/>
          </ac:spMkLst>
        </pc:spChg>
        <pc:cxnChg chg="mod">
          <ac:chgData name="SERGIO GRACIA BOROBIA" userId="bb361f61-d90b-4261-91df-891e2f0c5abe" providerId="ADAL" clId="{E42CE336-B86E-4034-816D-9DC89E1988DB}" dt="2026-01-23T19:03:15.922" v="61" actId="1076"/>
          <ac:cxnSpMkLst>
            <pc:docMk/>
            <pc:sldMk cId="4015322257" sldId="340"/>
            <ac:cxnSpMk id="3" creationId="{EBE3BCBF-0C84-2C4D-962C-9C45EC7B53BD}"/>
          </ac:cxnSpMkLst>
        </pc:cxnChg>
        <pc:cxnChg chg="mod">
          <ac:chgData name="SERGIO GRACIA BOROBIA" userId="bb361f61-d90b-4261-91df-891e2f0c5abe" providerId="ADAL" clId="{E42CE336-B86E-4034-816D-9DC89E1988DB}" dt="2026-01-23T19:03:10.073" v="59" actId="1076"/>
          <ac:cxnSpMkLst>
            <pc:docMk/>
            <pc:sldMk cId="4015322257" sldId="340"/>
            <ac:cxnSpMk id="4" creationId="{7DC1DF1A-EC36-A146-92B1-67327B141C5B}"/>
          </ac:cxnSpMkLst>
        </pc:cxnChg>
      </pc:sldChg>
      <pc:sldChg chg="modNotesTx">
        <pc:chgData name="SERGIO GRACIA BOROBIA" userId="bb361f61-d90b-4261-91df-891e2f0c5abe" providerId="ADAL" clId="{E42CE336-B86E-4034-816D-9DC89E1988DB}" dt="2026-01-16T19:59:05.536" v="11" actId="20577"/>
        <pc:sldMkLst>
          <pc:docMk/>
          <pc:sldMk cId="1565062470" sldId="344"/>
        </pc:sldMkLst>
      </pc:sldChg>
      <pc:sldChg chg="ord">
        <pc:chgData name="SERGIO GRACIA BOROBIA" userId="bb361f61-d90b-4261-91df-891e2f0c5abe" providerId="ADAL" clId="{E42CE336-B86E-4034-816D-9DC89E1988DB}" dt="2026-01-16T19:59:40.396" v="17"/>
        <pc:sldMkLst>
          <pc:docMk/>
          <pc:sldMk cId="336616548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708" y="4"/>
            <a:ext cx="3076363" cy="51410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D3D0D4E-673E-4329-8E8F-0A7ECA07A86F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11"/>
            <a:ext cx="5679440" cy="402987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9720519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708" y="9720519"/>
            <a:ext cx="3076363" cy="514099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ED8801B-1EFE-4F74-B295-13CB0EA9A6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243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22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F3C6-B779-A2F3-54BF-0B82D0CC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0B6BF8-6DAE-D092-F7F7-FD91497EA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F2C996-EBDB-3582-57C8-158C2C9F1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4201F7-1050-A188-5676-85147D562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5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2AC0-8E11-D876-C225-86E82B54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2E01C1-D555-9CC2-A2C5-B0BCF60CC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F0592F-61C5-5748-E973-B9E39F02D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37E41F-A043-9B08-CDD4-0A13A74A9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85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B14A-DF8A-2601-7845-B0FAC86A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9CB3B9-ADA2-3189-30F5-0D20859ED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506832-64FD-048B-14BE-CDDAFA93C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6D1877-AD07-A163-C0EA-5E819216E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2214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D251-0875-3854-9CFE-98BCFE82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6DAC8D-FDF4-820B-5EA5-6485928B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EB5AC9-0CE1-7A8F-CC74-BD9C8D4FF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3F4C1B-CE68-0917-4AAF-4919C7C14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3123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45C49-5ABF-B7B7-AE61-F0843BB0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08944A-AF73-083E-F6FB-7102DFD2D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7C61D9-AED8-FF72-A4A0-317777D82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B4C7A7-9DDE-1364-AD88-B465F275E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5338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5FF0-7282-3F04-D6F2-614BCBCEB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22CDE46-1F20-EB55-E32C-D8748C3CB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652230-C9FD-CE98-C56B-0FDC62A00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0A561C-34EA-9609-1E6C-159962CBD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82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638B-F0C3-DA59-8213-1516F194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428DE1-6CAB-4653-217E-BA673BB12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13B721-E70C-D4F2-0E3B-B8798454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340522-ABF0-0E48-5E19-DDE3FCE23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2009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E8A8-6CE9-6C82-030F-ACB9C952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03E518-4042-0E20-43A5-5B87DBF38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FAFA44-9326-61BD-26E9-F8C024614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24A4D9-9753-51E6-C552-FAE6C4BFC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9127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0FD7-6C84-9415-4A39-F7F00C3C1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C2C098-B251-D604-7D09-E7CEB8D61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36AA29-A707-EF35-A445-3DB6040CA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6DA76A-115E-C654-4904-864A80F2C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417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F61D-A18D-DB1B-A748-B592B2FF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359D9A-4E36-407C-DA17-D726024B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214C2B-DB00-A44B-DBE5-7599F5FB3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D9077F-6F26-7005-E5CD-061646194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2984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1928-7151-780B-8684-7FD76D855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8A7F91-BEBC-6D0F-2C9A-6CEE1831B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D472251-B02A-4E59-7037-24D63D440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AC0D12-1605-B609-DE4E-54A0A8B80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6432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3627-C13A-877B-5DEE-78A89A4B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AAF15A-E96D-22F9-51AD-3C798E7EC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59FC4F-3163-4F9A-00C3-283AF0249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33FE44-D9FA-751C-D8A5-9BE8C3AA5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745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A0BA-EEFC-F0C9-70CE-13CFC624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918727-286D-0A5F-7100-87CE4F00B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F29DE1-1F34-3508-ADC7-C3F664451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DBCE76-70F7-8429-0AC4-7209651FF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883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F948-DC96-202E-492A-CFE34E0E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A85465-9660-2520-6B95-ED27E5DCF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5DAA8D-AAD4-4869-AA75-72844801A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413DE2-071F-F6A8-ECE9-31DCB0D67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7302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121C-E12D-A59F-CB36-64F5884E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B3F6F6-7A76-5B74-5B22-E163CFD03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7D0D6F-FF4C-8EE9-EE92-36378D20E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537CC1-6325-D8D6-4632-1BF3724C0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473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A0A2-8D50-E542-9CEE-6DD455A9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E9B543-37EC-18BC-F230-92B5ACAF6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0A1E95-F632-DA1C-864F-4BD8CE52C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D13C81-F0C2-6931-9636-E9450A28A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434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F525-F0A3-B5FF-88BB-0B3B2538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5166B6-9B96-C802-3783-A8A15FBE1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40C55F-7572-00C3-055F-E7F4AFEF4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Fuente de la imagen: https://www.researchgate.net/profile/Aurora-Sanchez-Ortiz-2?_tp=eyJjb250ZXh0Ijp7ImZpcnN0UGFnZSI6Il9kaXJlY3QiLCJwYWdlIjoiX2RpcmVjdCJ9fQ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CDD7A6-64CE-9D82-A647-AAFC25C1F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786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801B-1EFE-4F74-B295-13CB0EA9A69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23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3200" y="460057"/>
            <a:ext cx="587057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3C8403E6-CBBA-479B-9902-FC76102A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B7C66-04A3-42D5-AEFB-859B5F519E29}" type="datetimeFigureOut">
              <a:rPr lang="es-ES" altLang="es-ES"/>
              <a:pPr>
                <a:defRPr/>
              </a:pPr>
              <a:t>23/01/2026</a:t>
            </a:fld>
            <a:endParaRPr lang="es-ES" altLang="es-E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CD06275-163C-4939-8968-BCD64885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E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29218632-EDC8-4CEB-8AC5-7C449E43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8BF4E-42ED-45C7-9572-BC9B2FC6CFC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4552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9399" y="451247"/>
            <a:ext cx="580008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436496"/>
            <a:ext cx="8049259" cy="3507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r"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CuadroTexto">
            <a:extLst>
              <a:ext uri="{FF2B5EF4-FFF2-40B4-BE49-F238E27FC236}">
                <a16:creationId xmlns:a16="http://schemas.microsoft.com/office/drawing/2014/main" id="{498E3EBF-5C85-4B77-9974-A174B730C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756126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ESCUELA DE ARQUITECTURA Y TECNOLOGÍA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Aprendizaje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No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Supervisado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Refuerzo</a:t>
            </a:r>
            <a:endParaRPr lang="en-US" altLang="es-ES" sz="1800" b="1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Sergio Gracia Borobia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000" b="1" dirty="0">
                <a:solidFill>
                  <a:srgbClr val="E46C0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Bloque 0</a:t>
            </a:r>
          </a:p>
          <a:p>
            <a:pPr>
              <a:spcBef>
                <a:spcPct val="0"/>
              </a:spcBef>
              <a:buNone/>
            </a:pPr>
            <a:r>
              <a:rPr lang="en-US" altLang="es-ES" sz="2800" b="1" dirty="0" err="1">
                <a:solidFill>
                  <a:srgbClr val="E46C0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Introducción</a:t>
            </a:r>
            <a:endParaRPr lang="en-US" altLang="es-ES" sz="2800" b="1" dirty="0">
              <a:solidFill>
                <a:srgbClr val="E46C0A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176B-BDE6-635D-4B93-67C5227F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30ADDA2-5D14-421A-ADE8-30792A398C24}"/>
              </a:ext>
            </a:extLst>
          </p:cNvPr>
          <p:cNvSpPr txBox="1">
            <a:spLocks/>
          </p:cNvSpPr>
          <p:nvPr/>
        </p:nvSpPr>
        <p:spPr>
          <a:xfrm>
            <a:off x="1409700" y="2499258"/>
            <a:ext cx="63246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6000" kern="0" spc="-35" dirty="0"/>
              <a:t>METODOLOGÍA CRISP-DM</a:t>
            </a:r>
            <a:endParaRPr lang="en-US" sz="6000" kern="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DEF9FA5-0C10-A1DD-B81C-C3B96BC4066E}"/>
              </a:ext>
            </a:extLst>
          </p:cNvPr>
          <p:cNvCxnSpPr>
            <a:cxnSpLocks/>
          </p:cNvCxnSpPr>
          <p:nvPr/>
        </p:nvCxnSpPr>
        <p:spPr>
          <a:xfrm>
            <a:off x="914400" y="45720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0EC6D15-3A2D-50DB-A9B9-EC7D5F3DC4FF}"/>
              </a:ext>
            </a:extLst>
          </p:cNvPr>
          <p:cNvCxnSpPr>
            <a:cxnSpLocks/>
          </p:cNvCxnSpPr>
          <p:nvPr/>
        </p:nvCxnSpPr>
        <p:spPr>
          <a:xfrm>
            <a:off x="990600" y="22860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46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C4CD-75B8-802E-4CA0-1019752D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8686AC4-6005-5DB5-AA4A-EE01F3672BA7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DF54BE-2A1C-FEB1-3969-8FB6507A9447}"/>
              </a:ext>
            </a:extLst>
          </p:cNvPr>
          <p:cNvSpPr txBox="1"/>
          <p:nvPr/>
        </p:nvSpPr>
        <p:spPr>
          <a:xfrm>
            <a:off x="381000" y="1981200"/>
            <a:ext cx="8534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Significa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Cross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Standard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Mining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39700">
              <a:buClr>
                <a:srgbClr val="F78000"/>
              </a:buClr>
              <a:buSzPts val="1400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 una metodología estándar para proyectos de minería de datos y ciencia de datos.</a:t>
            </a:r>
          </a:p>
          <a:p>
            <a:pPr marL="139700">
              <a:buClr>
                <a:srgbClr val="F78000"/>
              </a:buClr>
              <a:buSzPts val="1400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 aplicable en múltiples industrias y permite estructurar proyectos de manera eficiente.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 desarrolla en 6 fases: 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Comprensión del negocio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Comprensión de los datos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Preparación de los datos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Modelado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</a:p>
          <a:p>
            <a:pPr marL="1054100" lvl="1" indent="-457200">
              <a:buClr>
                <a:srgbClr val="F78000"/>
              </a:buClr>
              <a:buSzPts val="1400"/>
              <a:buFont typeface="+mj-lt"/>
              <a:buAutoNum type="arabicPeriod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Despliegue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27EDB4-8605-B163-0DBE-E3B11CD12A6F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/>
              <a:t>¿</a:t>
            </a:r>
            <a:r>
              <a:rPr lang="en-US" sz="2800" kern="0" dirty="0" err="1"/>
              <a:t>Qué</a:t>
            </a:r>
            <a:r>
              <a:rPr lang="en-US" sz="2800" kern="0" dirty="0"/>
              <a:t> es CRISP-DM?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46068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8C673-DA56-D4B5-C9F5-A5F06322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BA5B2F9-60AE-86DE-858C-939F40370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0A46306-2ECF-E3EE-7423-252AFA682651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6C93E2-4969-D028-86D6-1AFEC499AE1D}"/>
              </a:ext>
            </a:extLst>
          </p:cNvPr>
          <p:cNvSpPr txBox="1"/>
          <p:nvPr/>
        </p:nvSpPr>
        <p:spPr>
          <a:xfrm>
            <a:off x="5371833" y="3276600"/>
            <a:ext cx="373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Definición del problema y objetivos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Definición de indicadores KPI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Definición de métricas de Evaluación.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1B168AA-78D2-85BA-7929-45174ACAFE68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1EAD4F2-EF7E-DE21-7C1A-5B8DD5EAB8AA}"/>
              </a:ext>
            </a:extLst>
          </p:cNvPr>
          <p:cNvSpPr/>
          <p:nvPr/>
        </p:nvSpPr>
        <p:spPr>
          <a:xfrm>
            <a:off x="990600" y="21336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8F942028-1D21-1514-C3BA-58D6DED2ECB1}"/>
              </a:ext>
            </a:extLst>
          </p:cNvPr>
          <p:cNvSpPr txBox="1">
            <a:spLocks/>
          </p:cNvSpPr>
          <p:nvPr/>
        </p:nvSpPr>
        <p:spPr>
          <a:xfrm>
            <a:off x="5331640" y="2514600"/>
            <a:ext cx="369596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Comprensión</a:t>
            </a:r>
            <a:r>
              <a:rPr lang="en-US" sz="2800" kern="0" dirty="0"/>
              <a:t> del </a:t>
            </a:r>
            <a:r>
              <a:rPr lang="en-US" sz="2800" kern="0" dirty="0" err="1"/>
              <a:t>negocio</a:t>
            </a:r>
            <a:endParaRPr lang="en-US" sz="3200" kern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3CB4F5D-E0CD-0457-CC0B-1C3EEF986C1E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145132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1F5C-6C60-7AE5-BAE6-6E3AE758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27F6C5B-0D24-2DF7-A68D-CB355107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202960E-A52A-3BA7-EC8B-4CA6B5BB45A0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EACD85-693E-8AFB-D4A6-A4D150405DBE}"/>
              </a:ext>
            </a:extLst>
          </p:cNvPr>
          <p:cNvSpPr txBox="1"/>
          <p:nvPr/>
        </p:nvSpPr>
        <p:spPr>
          <a:xfrm>
            <a:off x="5371833" y="3276600"/>
            <a:ext cx="3733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Identificar y analizar las fuentes de datos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Exploración de datos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Análisis de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correlación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de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sesgos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0B2BC63-E588-4FA8-D82A-0736D50E827F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F12DA84-4167-4523-FBCC-A7B39FD6AD91}"/>
              </a:ext>
            </a:extLst>
          </p:cNvPr>
          <p:cNvSpPr/>
          <p:nvPr/>
        </p:nvSpPr>
        <p:spPr>
          <a:xfrm>
            <a:off x="2889739" y="2093406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EF3B2F06-D556-48FC-D846-DD5E3BCD1B8A}"/>
              </a:ext>
            </a:extLst>
          </p:cNvPr>
          <p:cNvSpPr txBox="1">
            <a:spLocks/>
          </p:cNvSpPr>
          <p:nvPr/>
        </p:nvSpPr>
        <p:spPr>
          <a:xfrm>
            <a:off x="5181600" y="2514600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Comprensión</a:t>
            </a:r>
            <a:r>
              <a:rPr lang="en-US" sz="2800" kern="0" dirty="0"/>
              <a:t> de </a:t>
            </a:r>
            <a:r>
              <a:rPr lang="en-US" sz="2800" kern="0" dirty="0" err="1"/>
              <a:t>los</a:t>
            </a:r>
            <a:r>
              <a:rPr lang="en-US" sz="2800" kern="0" dirty="0"/>
              <a:t> Datos</a:t>
            </a:r>
            <a:endParaRPr lang="en-US" sz="3200" kern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7621A2-6970-2377-D40F-316C8D8FE21A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1513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09B2-3746-1EC8-0503-99B2F4C6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A659405-9BA2-0270-B0F6-BB51581E9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F6979CE-BE33-90D3-6F40-7EB179FEC175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97B9BED0-7FA6-0E45-CCFB-0E6A43152938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FEC5877-2A37-C1C6-E80E-3A3B43573BEF}"/>
              </a:ext>
            </a:extLst>
          </p:cNvPr>
          <p:cNvSpPr/>
          <p:nvPr/>
        </p:nvSpPr>
        <p:spPr>
          <a:xfrm>
            <a:off x="3196212" y="2375688"/>
            <a:ext cx="994787" cy="443712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08C3F9-5757-E95C-E845-CC74422318A2}"/>
              </a:ext>
            </a:extLst>
          </p:cNvPr>
          <p:cNvSpPr/>
          <p:nvPr/>
        </p:nvSpPr>
        <p:spPr>
          <a:xfrm>
            <a:off x="1295400" y="2373175"/>
            <a:ext cx="1066800" cy="443712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A005D95-E23A-3575-7FED-D15D7F4DEE35}"/>
              </a:ext>
            </a:extLst>
          </p:cNvPr>
          <p:cNvSpPr/>
          <p:nvPr/>
        </p:nvSpPr>
        <p:spPr>
          <a:xfrm>
            <a:off x="2471894" y="2404157"/>
            <a:ext cx="614625" cy="443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3ED1D7-4D7A-E780-4D3B-DD7385981859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116141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C547-ABAB-4BBF-50D9-5B587189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1EFB598-3708-C885-EF85-5A37723FC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7B9171C-1F1A-86C0-1C87-4A4F5D831DAE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A3D122-FCC5-2EF7-EFC2-6B007C941063}"/>
              </a:ext>
            </a:extLst>
          </p:cNvPr>
          <p:cNvSpPr txBox="1"/>
          <p:nvPr/>
        </p:nvSpPr>
        <p:spPr>
          <a:xfrm>
            <a:off x="5371833" y="3276600"/>
            <a:ext cx="3733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Limpiar y transformar los datos para su uso en modelos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Preparación de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E58C2F5-DD27-1A73-D1F2-13774B74AADE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7F0DA0-70AD-CE63-7AE7-CBF05498DC39}"/>
              </a:ext>
            </a:extLst>
          </p:cNvPr>
          <p:cNvSpPr/>
          <p:nvPr/>
        </p:nvSpPr>
        <p:spPr>
          <a:xfrm>
            <a:off x="3505200" y="3276600"/>
            <a:ext cx="1524000" cy="8382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53576FD5-9EA2-8AA8-D798-3C57A2B8B79F}"/>
              </a:ext>
            </a:extLst>
          </p:cNvPr>
          <p:cNvSpPr txBox="1">
            <a:spLocks/>
          </p:cNvSpPr>
          <p:nvPr/>
        </p:nvSpPr>
        <p:spPr>
          <a:xfrm>
            <a:off x="5181600" y="2514600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Preparación</a:t>
            </a:r>
            <a:r>
              <a:rPr lang="en-US" sz="2800" kern="0" dirty="0"/>
              <a:t> de </a:t>
            </a:r>
            <a:r>
              <a:rPr lang="en-US" sz="2800" kern="0" dirty="0" err="1"/>
              <a:t>los</a:t>
            </a:r>
            <a:r>
              <a:rPr lang="en-US" sz="2800" kern="0" dirty="0"/>
              <a:t> Datos</a:t>
            </a:r>
            <a:endParaRPr lang="en-US" sz="3200" kern="0" dirty="0"/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95439FEE-4140-CE78-1E60-CBF25DD5D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233" y="5305994"/>
            <a:ext cx="3846976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08EF4FC-E93A-E349-7E2F-1D610D0829E9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50738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76A1-1D8F-9998-5A1A-180A64EA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965B05F-FFE5-4D45-6A6F-05A73489F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872A1C7-931C-BC4C-B502-B4D01D62DE6A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DF57CB-9512-85B4-CF9B-3BF64D740E6B}"/>
              </a:ext>
            </a:extLst>
          </p:cNvPr>
          <p:cNvSpPr txBox="1"/>
          <p:nvPr/>
        </p:nvSpPr>
        <p:spPr>
          <a:xfrm>
            <a:off x="5258655" y="3276600"/>
            <a:ext cx="38469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Aplicar técnicas de machine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para resolver el problema.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Elección del modelo adecuado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Ajuste de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hiperparámetros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D573A22-759B-2542-05B8-6F2B1B7BC63D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49F5D15-474C-049C-41FD-303483314C52}"/>
              </a:ext>
            </a:extLst>
          </p:cNvPr>
          <p:cNvSpPr/>
          <p:nvPr/>
        </p:nvSpPr>
        <p:spPr>
          <a:xfrm>
            <a:off x="3505200" y="4267200"/>
            <a:ext cx="1524000" cy="6858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1D47343-C4FE-6E67-76A6-E925E721EB5D}"/>
              </a:ext>
            </a:extLst>
          </p:cNvPr>
          <p:cNvSpPr txBox="1">
            <a:spLocks/>
          </p:cNvSpPr>
          <p:nvPr/>
        </p:nvSpPr>
        <p:spPr>
          <a:xfrm>
            <a:off x="5181600" y="2514600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Modelado</a:t>
            </a:r>
            <a:endParaRPr lang="en-US" sz="3200" kern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436682-3342-4D89-89CC-A59ACC018703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241808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B5F0-0961-7A1C-B9C8-3FEA4062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B487E86-FB11-8EB5-AD74-6C77B795B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5C952EC-D459-CF2C-D19B-EF9439B16096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F476EF9-4096-0AC6-CF6E-DF26405B2A2E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B6A2AB-33A2-7CB1-C325-0BC70D967C9E}"/>
              </a:ext>
            </a:extLst>
          </p:cNvPr>
          <p:cNvSpPr/>
          <p:nvPr/>
        </p:nvSpPr>
        <p:spPr>
          <a:xfrm>
            <a:off x="3733800" y="4495800"/>
            <a:ext cx="1066800" cy="3048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EA112B-7A76-1203-D19E-1326C09BB5EB}"/>
              </a:ext>
            </a:extLst>
          </p:cNvPr>
          <p:cNvSpPr/>
          <p:nvPr/>
        </p:nvSpPr>
        <p:spPr>
          <a:xfrm>
            <a:off x="3733800" y="3454958"/>
            <a:ext cx="1066800" cy="431242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B9EF38-F651-4F7B-8D3D-C8BAFF4B8AA8}"/>
              </a:ext>
            </a:extLst>
          </p:cNvPr>
          <p:cNvSpPr/>
          <p:nvPr/>
        </p:nvSpPr>
        <p:spPr>
          <a:xfrm>
            <a:off x="3885346" y="3969144"/>
            <a:ext cx="686654" cy="443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5F5274-136E-DF97-B968-6DB733DB0D4A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154175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AD1AC-FD32-122C-DBC4-7FA000AC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2F3D044-8B81-368A-1F54-DAF65E7A3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A1E8E90-51B4-A9E5-AEBB-A26C7751F039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46AD69-6881-E87A-82F6-2E7E566C6BFE}"/>
              </a:ext>
            </a:extLst>
          </p:cNvPr>
          <p:cNvSpPr txBox="1"/>
          <p:nvPr/>
        </p:nvSpPr>
        <p:spPr>
          <a:xfrm>
            <a:off x="5258655" y="3276600"/>
            <a:ext cx="38469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Medir el desempeño del modelo respecto a los objetivos del negocio.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Definición de métricas.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Según el modelo elegido, las métricas pueden variar.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55432C2-B7E3-0CEF-9EE3-4A9CF4D3642B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793AB7A-9A20-5C48-A6C1-645D0D299D8F}"/>
              </a:ext>
            </a:extLst>
          </p:cNvPr>
          <p:cNvSpPr/>
          <p:nvPr/>
        </p:nvSpPr>
        <p:spPr>
          <a:xfrm>
            <a:off x="1981200" y="54102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17114AF4-ACFF-87E9-E554-551C368CD7D8}"/>
              </a:ext>
            </a:extLst>
          </p:cNvPr>
          <p:cNvSpPr txBox="1">
            <a:spLocks/>
          </p:cNvSpPr>
          <p:nvPr/>
        </p:nvSpPr>
        <p:spPr>
          <a:xfrm>
            <a:off x="5181600" y="2514600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endParaRPr lang="en-US" sz="3200" kern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9D0CDC-5655-9FAD-3B5F-BF61E2B249B1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335251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7E96-DFBA-84E3-A2EF-972A09CE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324DEB7-808B-42D9-8070-36DEA3D2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7213276-12CB-422E-D76B-DD50CF5E64C6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18A77F9-AE0A-F3FA-D3E7-6AFBC651D231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18F3A6-8F28-30B1-EDB0-787A2B1BC1AA}"/>
              </a:ext>
            </a:extLst>
          </p:cNvPr>
          <p:cNvSpPr/>
          <p:nvPr/>
        </p:nvSpPr>
        <p:spPr>
          <a:xfrm>
            <a:off x="2209800" y="5777802"/>
            <a:ext cx="1109506" cy="318199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D9CAB3-433A-295A-05BF-3C1BE63C9DAC}"/>
              </a:ext>
            </a:extLst>
          </p:cNvPr>
          <p:cNvSpPr/>
          <p:nvPr/>
        </p:nvSpPr>
        <p:spPr>
          <a:xfrm>
            <a:off x="2471894" y="3122483"/>
            <a:ext cx="1109506" cy="24401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E027C6-A15C-4888-9872-824B8CC8552D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E303233-88DC-022A-CCCE-4EEA51C7EB40}"/>
              </a:ext>
            </a:extLst>
          </p:cNvPr>
          <p:cNvSpPr/>
          <p:nvPr/>
        </p:nvSpPr>
        <p:spPr>
          <a:xfrm>
            <a:off x="1295400" y="2399832"/>
            <a:ext cx="1033306" cy="443711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4934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B004-359C-C8BC-38DC-D7971656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5F7FA15-8AD7-0EF8-FF61-410185E02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734576E-E111-E3A9-0C92-4E179847E793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F527BB-0943-7811-259E-F595C0E606AD}"/>
              </a:ext>
            </a:extLst>
          </p:cNvPr>
          <p:cNvSpPr txBox="1"/>
          <p:nvPr/>
        </p:nvSpPr>
        <p:spPr>
          <a:xfrm>
            <a:off x="5258655" y="3276600"/>
            <a:ext cx="38469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Implementación de la solución en un entorno real.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Automatización del modelo.</a:t>
            </a: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17500">
              <a:buClr>
                <a:srgbClr val="F78000"/>
              </a:buClr>
              <a:buSzPts val="1400"/>
              <a:buFont typeface="Wingdings" panose="05000000000000000000" pitchFamily="2" charset="2"/>
              <a:buChar char="§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Monitoreo y mantenimiento.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81E51026-CCC3-BF97-EF6D-206570B968CF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3BA4C65-0EE3-C286-AD2C-586EADF43761}"/>
              </a:ext>
            </a:extLst>
          </p:cNvPr>
          <p:cNvSpPr/>
          <p:nvPr/>
        </p:nvSpPr>
        <p:spPr>
          <a:xfrm>
            <a:off x="241588" y="38100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1FC1BBF8-CA3F-7E98-F551-B1DF70487A04}"/>
              </a:ext>
            </a:extLst>
          </p:cNvPr>
          <p:cNvSpPr txBox="1">
            <a:spLocks/>
          </p:cNvSpPr>
          <p:nvPr/>
        </p:nvSpPr>
        <p:spPr>
          <a:xfrm>
            <a:off x="5181600" y="2514600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Despliegue</a:t>
            </a:r>
            <a:endParaRPr lang="en-US" sz="3200" kern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825BC9-FDBE-8C63-1AF4-0C4F439DC2DE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34431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5829-9A11-A0D9-CBF5-5060DC6C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B914A3B-7863-C8D1-E64A-9E2CEC74B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C279B6B-9026-2CF4-A272-5C44B5B15E4E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1D2A712C-78BF-68D8-C1F0-8A060834D17C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F7DC2D-22FC-E594-73CC-BF82808DBAE5}"/>
              </a:ext>
            </a:extLst>
          </p:cNvPr>
          <p:cNvSpPr/>
          <p:nvPr/>
        </p:nvSpPr>
        <p:spPr>
          <a:xfrm>
            <a:off x="3505200" y="3276600"/>
            <a:ext cx="1524000" cy="839136"/>
          </a:xfrm>
          <a:prstGeom prst="rect">
            <a:avLst/>
          </a:prstGeom>
          <a:noFill/>
          <a:ln w="57150">
            <a:solidFill>
              <a:srgbClr val="CCFF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2CF751-B24D-3F27-BD3B-4961AFBE20ED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618344C-6E2F-1805-A26E-4418BF3F594A}"/>
              </a:ext>
            </a:extLst>
          </p:cNvPr>
          <p:cNvSpPr txBox="1"/>
          <p:nvPr/>
        </p:nvSpPr>
        <p:spPr>
          <a:xfrm>
            <a:off x="5410200" y="2442414"/>
            <a:ext cx="373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1. Preprocesamiento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6A7DE4-0CDC-CAF1-6633-B3D319840F81}"/>
              </a:ext>
            </a:extLst>
          </p:cNvPr>
          <p:cNvSpPr/>
          <p:nvPr/>
        </p:nvSpPr>
        <p:spPr>
          <a:xfrm>
            <a:off x="3505200" y="4246096"/>
            <a:ext cx="1498879" cy="762000"/>
          </a:xfrm>
          <a:prstGeom prst="rect">
            <a:avLst/>
          </a:prstGeom>
          <a:noFill/>
          <a:ln w="57150">
            <a:solidFill>
              <a:srgbClr val="FF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0228D97-909B-78FA-5BC8-0215D0D96FD5}"/>
              </a:ext>
            </a:extLst>
          </p:cNvPr>
          <p:cNvSpPr/>
          <p:nvPr/>
        </p:nvSpPr>
        <p:spPr>
          <a:xfrm>
            <a:off x="1981200" y="5516545"/>
            <a:ext cx="1524000" cy="762000"/>
          </a:xfrm>
          <a:prstGeom prst="rect">
            <a:avLst/>
          </a:prstGeom>
          <a:noFill/>
          <a:ln w="57150">
            <a:solidFill>
              <a:srgbClr val="FF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3609C7-EC06-F707-7B83-38EBA15F3CF5}"/>
              </a:ext>
            </a:extLst>
          </p:cNvPr>
          <p:cNvSpPr/>
          <p:nvPr/>
        </p:nvSpPr>
        <p:spPr>
          <a:xfrm>
            <a:off x="3581400" y="4321360"/>
            <a:ext cx="1352341" cy="632477"/>
          </a:xfrm>
          <a:prstGeom prst="rect">
            <a:avLst/>
          </a:prstGeom>
          <a:noFill/>
          <a:ln w="57150">
            <a:solidFill>
              <a:srgbClr val="F4EE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7DA7169-FEB1-0C25-160C-1739B585CB38}"/>
              </a:ext>
            </a:extLst>
          </p:cNvPr>
          <p:cNvSpPr txBox="1"/>
          <p:nvPr/>
        </p:nvSpPr>
        <p:spPr>
          <a:xfrm>
            <a:off x="5562600" y="3491904"/>
            <a:ext cx="373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2.1 </a:t>
            </a:r>
            <a:r>
              <a:rPr lang="es-ES" sz="2000" dirty="0" err="1"/>
              <a:t>Clustering</a:t>
            </a:r>
            <a:r>
              <a:rPr lang="es-ES" sz="2000" dirty="0"/>
              <a:t>: Modelos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2D08C1-1698-9F49-BF91-4CDEC9D73A06}"/>
              </a:ext>
            </a:extLst>
          </p:cNvPr>
          <p:cNvSpPr txBox="1"/>
          <p:nvPr/>
        </p:nvSpPr>
        <p:spPr>
          <a:xfrm>
            <a:off x="5571182" y="4654153"/>
            <a:ext cx="373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3. Asociación y Aprendizaje por Refuerzo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BFAA15-D2BC-227F-B2A9-1BEFCCE41200}"/>
              </a:ext>
            </a:extLst>
          </p:cNvPr>
          <p:cNvSpPr txBox="1"/>
          <p:nvPr/>
        </p:nvSpPr>
        <p:spPr>
          <a:xfrm>
            <a:off x="4881880" y="5759235"/>
            <a:ext cx="373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2.2. </a:t>
            </a:r>
            <a:r>
              <a:rPr lang="es-ES" sz="2000" dirty="0" err="1"/>
              <a:t>Clustering</a:t>
            </a:r>
            <a:r>
              <a:rPr lang="es-ES" sz="2000" dirty="0"/>
              <a:t>: Evaluación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9555801-9BA1-48D8-EE5B-E014B52E9CF6}"/>
              </a:ext>
            </a:extLst>
          </p:cNvPr>
          <p:cNvCxnSpPr>
            <a:stCxn id="10" idx="3"/>
          </p:cNvCxnSpPr>
          <p:nvPr/>
        </p:nvCxnSpPr>
        <p:spPr>
          <a:xfrm flipV="1">
            <a:off x="5029200" y="2743200"/>
            <a:ext cx="533400" cy="952968"/>
          </a:xfrm>
          <a:prstGeom prst="straightConnector1">
            <a:avLst/>
          </a:prstGeom>
          <a:ln w="38100">
            <a:solidFill>
              <a:srgbClr val="CCFF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29F69CB-2EB4-87FC-15E8-B820811D4BDE}"/>
              </a:ext>
            </a:extLst>
          </p:cNvPr>
          <p:cNvCxnSpPr>
            <a:cxnSpLocks/>
          </p:cNvCxnSpPr>
          <p:nvPr/>
        </p:nvCxnSpPr>
        <p:spPr>
          <a:xfrm flipV="1">
            <a:off x="5004079" y="3826528"/>
            <a:ext cx="634721" cy="765692"/>
          </a:xfrm>
          <a:prstGeom prst="straightConnector1">
            <a:avLst/>
          </a:prstGeom>
          <a:ln w="38100">
            <a:solidFill>
              <a:srgbClr val="FF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A9EC3EE-0FDA-961A-B534-DDAFFA64BB65}"/>
              </a:ext>
            </a:extLst>
          </p:cNvPr>
          <p:cNvCxnSpPr>
            <a:cxnSpLocks/>
          </p:cNvCxnSpPr>
          <p:nvPr/>
        </p:nvCxnSpPr>
        <p:spPr>
          <a:xfrm>
            <a:off x="4933741" y="4814686"/>
            <a:ext cx="857459" cy="139151"/>
          </a:xfrm>
          <a:prstGeom prst="straightConnector1">
            <a:avLst/>
          </a:prstGeom>
          <a:ln w="38100">
            <a:solidFill>
              <a:srgbClr val="F4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0898119-F1F0-4CD6-FC24-F80766D1A318}"/>
              </a:ext>
            </a:extLst>
          </p:cNvPr>
          <p:cNvCxnSpPr>
            <a:cxnSpLocks/>
          </p:cNvCxnSpPr>
          <p:nvPr/>
        </p:nvCxnSpPr>
        <p:spPr>
          <a:xfrm flipV="1">
            <a:off x="3505200" y="5959290"/>
            <a:ext cx="1524000" cy="91636"/>
          </a:xfrm>
          <a:prstGeom prst="straightConnector1">
            <a:avLst/>
          </a:prstGeom>
          <a:ln w="38100">
            <a:solidFill>
              <a:srgbClr val="FF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1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/>
      <p:bldP spid="1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A795-DF5E-3F9E-D0C8-FEF5118F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332FAD5-77E2-9E18-1D42-5F7E401DA4D9}"/>
              </a:ext>
            </a:extLst>
          </p:cNvPr>
          <p:cNvSpPr txBox="1">
            <a:spLocks/>
          </p:cNvSpPr>
          <p:nvPr/>
        </p:nvSpPr>
        <p:spPr>
          <a:xfrm>
            <a:off x="876300" y="2027127"/>
            <a:ext cx="73914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6000" kern="0" spc="-35" dirty="0" err="1"/>
              <a:t>Ejercicio</a:t>
            </a:r>
            <a:r>
              <a:rPr lang="en-US" sz="6000" kern="0" spc="-35" dirty="0"/>
              <a:t> </a:t>
            </a:r>
            <a:r>
              <a:rPr lang="en-US" sz="6000" kern="0" spc="-35" dirty="0" err="1"/>
              <a:t>exposición</a:t>
            </a:r>
            <a:r>
              <a:rPr lang="en-US" sz="6000" kern="0" spc="-35" dirty="0"/>
              <a:t>: </a:t>
            </a:r>
            <a:r>
              <a:rPr lang="en-US" sz="6000" kern="0" spc="-35" dirty="0" err="1"/>
              <a:t>Aplicación</a:t>
            </a:r>
            <a:r>
              <a:rPr lang="en-US" sz="6000" kern="0" spc="-35" dirty="0"/>
              <a:t> a un </a:t>
            </a:r>
            <a:r>
              <a:rPr lang="en-US" sz="6000" kern="0" spc="-35" dirty="0" err="1"/>
              <a:t>caso</a:t>
            </a:r>
            <a:r>
              <a:rPr lang="en-US" sz="6000" kern="0" spc="-35" dirty="0"/>
              <a:t> real </a:t>
            </a:r>
            <a:r>
              <a:rPr lang="en-US" sz="6000" kern="0" spc="-35" dirty="0" err="1"/>
              <a:t>en</a:t>
            </a:r>
            <a:r>
              <a:rPr lang="en-US" sz="6000" kern="0" spc="-35" dirty="0"/>
              <a:t> </a:t>
            </a:r>
            <a:r>
              <a:rPr lang="en-US" sz="6000" kern="0" spc="-35" dirty="0" err="1"/>
              <a:t>medicina</a:t>
            </a:r>
            <a:endParaRPr lang="en-US" sz="6000" kern="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BE3BCBF-0C84-2C4D-962C-9C45EC7B53BD}"/>
              </a:ext>
            </a:extLst>
          </p:cNvPr>
          <p:cNvCxnSpPr>
            <a:cxnSpLocks/>
          </p:cNvCxnSpPr>
          <p:nvPr/>
        </p:nvCxnSpPr>
        <p:spPr>
          <a:xfrm>
            <a:off x="914400" y="49530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DC1DF1A-EC36-A146-92B1-67327B141C5B}"/>
              </a:ext>
            </a:extLst>
          </p:cNvPr>
          <p:cNvCxnSpPr>
            <a:cxnSpLocks/>
          </p:cNvCxnSpPr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32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0995-F1B4-732E-B00A-3BA8F704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3C3B039-0F11-BE8D-F119-23BC18BA6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A79FF49-808B-4ECD-F57E-CABFA200DF9F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8F545B-D834-CC2E-387A-4346CAD2781D}"/>
              </a:ext>
            </a:extLst>
          </p:cNvPr>
          <p:cNvSpPr txBox="1"/>
          <p:nvPr/>
        </p:nvSpPr>
        <p:spPr>
          <a:xfrm>
            <a:off x="5371833" y="3276600"/>
            <a:ext cx="3733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b="1" dirty="0"/>
              <a:t>Objetivo del proyecto:</a:t>
            </a:r>
            <a:r>
              <a:rPr lang="es-ES" sz="2000" dirty="0"/>
              <a:t> Identificar pacientes en riesgo de desarrollar cáncer de colon antes de que aparezcan síntomas graves, permitiendo detección temprana y prevención.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887D29C3-E597-D66F-7BB6-6133CD9EF281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F50269-3457-4A59-6D26-3908BCEB7C07}"/>
              </a:ext>
            </a:extLst>
          </p:cNvPr>
          <p:cNvSpPr/>
          <p:nvPr/>
        </p:nvSpPr>
        <p:spPr>
          <a:xfrm>
            <a:off x="990600" y="21336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9047D20F-F8D0-BF1A-BCA4-B9195B513048}"/>
              </a:ext>
            </a:extLst>
          </p:cNvPr>
          <p:cNvSpPr txBox="1">
            <a:spLocks/>
          </p:cNvSpPr>
          <p:nvPr/>
        </p:nvSpPr>
        <p:spPr>
          <a:xfrm>
            <a:off x="5331640" y="2514600"/>
            <a:ext cx="369596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Comprensión</a:t>
            </a:r>
            <a:r>
              <a:rPr lang="en-US" sz="2800" kern="0" dirty="0"/>
              <a:t> del </a:t>
            </a:r>
            <a:r>
              <a:rPr lang="en-US" sz="2800" kern="0" dirty="0" err="1"/>
              <a:t>negocio</a:t>
            </a:r>
            <a:endParaRPr lang="en-US" sz="3200" kern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F280C6-62E6-BFFD-163C-88920D9AE3BE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</p:spTree>
    <p:extLst>
      <p:ext uri="{BB962C8B-B14F-4D97-AF65-F5344CB8AC3E}">
        <p14:creationId xmlns:p14="http://schemas.microsoft.com/office/powerpoint/2010/main" val="325536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B62B-F257-586A-A794-CF649949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E4665C8-64DC-314D-88C0-5BEB76FF1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567713A-9843-600A-416B-D644DFFDB16B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5FF3B10-A62D-D89D-224A-B944C4D81574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51B3D0-8297-F22A-91DB-F9B78B3ECABB}"/>
              </a:ext>
            </a:extLst>
          </p:cNvPr>
          <p:cNvSpPr/>
          <p:nvPr/>
        </p:nvSpPr>
        <p:spPr>
          <a:xfrm>
            <a:off x="2889739" y="2093406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3E56357-7E53-A51A-3255-90A7188D4107}"/>
              </a:ext>
            </a:extLst>
          </p:cNvPr>
          <p:cNvSpPr txBox="1">
            <a:spLocks/>
          </p:cNvSpPr>
          <p:nvPr/>
        </p:nvSpPr>
        <p:spPr>
          <a:xfrm>
            <a:off x="4953000" y="1214465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Comprensión</a:t>
            </a:r>
            <a:r>
              <a:rPr lang="en-US" sz="2800" kern="0" dirty="0"/>
              <a:t> de </a:t>
            </a:r>
            <a:r>
              <a:rPr lang="en-US" sz="2800" kern="0" dirty="0" err="1"/>
              <a:t>los</a:t>
            </a:r>
            <a:r>
              <a:rPr lang="en-US" sz="2800" kern="0" dirty="0"/>
              <a:t> Datos</a:t>
            </a:r>
            <a:endParaRPr lang="en-US" sz="3200" kern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918C8E-A1E3-869C-1FF3-3FCA0E4E37EA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446DD2F-7A8F-F847-C4C4-4ADF733AEDA5}"/>
              </a:ext>
            </a:extLst>
          </p:cNvPr>
          <p:cNvSpPr txBox="1"/>
          <p:nvPr/>
        </p:nvSpPr>
        <p:spPr>
          <a:xfrm>
            <a:off x="5297308" y="2312161"/>
            <a:ext cx="3733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buClr>
                <a:srgbClr val="F78000"/>
              </a:buClr>
              <a:buSzPts val="1400"/>
            </a:pPr>
            <a:r>
              <a:rPr lang="es-ES" sz="2000" dirty="0"/>
              <a:t>Conjunto de datos tabulares con el historial médico y pruebas realizadas a cada uno de 10000 pacientes.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0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E1FD-A685-9937-3C28-B2362FD1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CCDE4C2-626F-9F0F-5BC8-159632388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1E0C79F-71D9-3783-AB42-32CD3BA1ED9E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D7FC074-B89D-1E68-5962-8ECC6CE4B520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B0B5A5-9282-FA63-B1BC-D56AC949B87F}"/>
              </a:ext>
            </a:extLst>
          </p:cNvPr>
          <p:cNvSpPr/>
          <p:nvPr/>
        </p:nvSpPr>
        <p:spPr>
          <a:xfrm>
            <a:off x="2889739" y="2093406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334C83FE-1227-AD4A-2052-9A6E2FE10AC9}"/>
              </a:ext>
            </a:extLst>
          </p:cNvPr>
          <p:cNvSpPr txBox="1">
            <a:spLocks/>
          </p:cNvSpPr>
          <p:nvPr/>
        </p:nvSpPr>
        <p:spPr>
          <a:xfrm>
            <a:off x="4953000" y="1214465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Comprensión</a:t>
            </a:r>
            <a:r>
              <a:rPr lang="en-US" sz="2800" kern="0" dirty="0"/>
              <a:t> de </a:t>
            </a:r>
            <a:r>
              <a:rPr lang="en-US" sz="2800" kern="0" dirty="0" err="1"/>
              <a:t>los</a:t>
            </a:r>
            <a:r>
              <a:rPr lang="en-US" sz="2800" kern="0" dirty="0"/>
              <a:t> Datos</a:t>
            </a:r>
            <a:endParaRPr lang="en-US" sz="3200" kern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22BA9C-679F-7355-2908-68393D118D16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F06CD339-D6AB-991A-9B18-27FC293FF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174868"/>
              </p:ext>
            </p:extLst>
          </p:nvPr>
        </p:nvGraphicFramePr>
        <p:xfrm>
          <a:off x="677008" y="259080"/>
          <a:ext cx="7625862" cy="6339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34662">
                  <a:extLst>
                    <a:ext uri="{9D8B030D-6E8A-4147-A177-3AD203B41FA5}">
                      <a16:colId xmlns:a16="http://schemas.microsoft.com/office/drawing/2014/main" val="91947649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12762824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770741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Nombre de la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9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Paciente_ID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Categórica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Identificador único del paciente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12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Cáncer de colon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Categórica (Sí/No)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Indica si al paciente se le ha diagnosticado con cáncer colorrectal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7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Edad del paciente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4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Sexo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Categórica (M/F)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Sexo biológico del paciente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85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Índice de masa corporal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05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Categórica (Sí/A Veces/No)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Historial de tabaquismo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2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Alcohol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Categórica (Sí/A Veces/No)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Historial de consumo de alcohol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26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Antecedentes Familiares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Categórica (Sí/No)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Familiares de primer grado con cáncer colorrectal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08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Inflamación Intestinal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Categórica (Sí/No)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Si se le ha diagnosticado anteriormente con enfermedades inflamatorias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72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Sangre en heces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Categórica (Sí/No)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Presencia de sangre en heces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925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Pólipos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Categórica (Sí/No)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Presencia de pólipos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28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019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11FA-F0F1-6A91-79E1-D4DF5D3A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69234287-A6E7-7EFA-95EA-3F7D531B4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664"/>
            <a:ext cx="5334152" cy="497373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6EF7B37-3692-3F98-A337-97D5978A2910}"/>
              </a:ext>
            </a:extLst>
          </p:cNvPr>
          <p:cNvSpPr txBox="1">
            <a:spLocks/>
          </p:cNvSpPr>
          <p:nvPr/>
        </p:nvSpPr>
        <p:spPr>
          <a:xfrm>
            <a:off x="3886200" y="460057"/>
            <a:ext cx="47294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n-US" sz="4400" kern="0" spc="-35" dirty="0">
                <a:solidFill>
                  <a:srgbClr val="F78000"/>
                </a:solidFill>
              </a:rPr>
              <a:t>CRISP-DM</a:t>
            </a:r>
            <a:endParaRPr lang="en-US" sz="4400" kern="0" dirty="0">
              <a:solidFill>
                <a:srgbClr val="F78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9B881A45-D1C5-91CD-7475-AE292181AB26}"/>
              </a:ext>
            </a:extLst>
          </p:cNvPr>
          <p:cNvSpPr txBox="1">
            <a:spLocks/>
          </p:cNvSpPr>
          <p:nvPr/>
        </p:nvSpPr>
        <p:spPr>
          <a:xfrm>
            <a:off x="609600" y="1180971"/>
            <a:ext cx="4729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kern="0" dirty="0" err="1"/>
              <a:t>Fases</a:t>
            </a:r>
            <a:endParaRPr lang="en-US" sz="3200" b="1" kern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29D054-1A3E-1CBE-BAF7-64BC551CA4CE}"/>
              </a:ext>
            </a:extLst>
          </p:cNvPr>
          <p:cNvSpPr/>
          <p:nvPr/>
        </p:nvSpPr>
        <p:spPr>
          <a:xfrm>
            <a:off x="3505200" y="3276600"/>
            <a:ext cx="1524000" cy="8382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5034497D-88F1-C7AB-2039-AD2E89A707ED}"/>
              </a:ext>
            </a:extLst>
          </p:cNvPr>
          <p:cNvSpPr txBox="1">
            <a:spLocks/>
          </p:cNvSpPr>
          <p:nvPr/>
        </p:nvSpPr>
        <p:spPr>
          <a:xfrm>
            <a:off x="5791200" y="2143295"/>
            <a:ext cx="2971799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Preparación</a:t>
            </a:r>
            <a:r>
              <a:rPr lang="en-US" sz="2800" kern="0" dirty="0"/>
              <a:t> de </a:t>
            </a:r>
            <a:r>
              <a:rPr lang="en-US" sz="2800" kern="0" dirty="0" err="1"/>
              <a:t>los</a:t>
            </a:r>
            <a:r>
              <a:rPr lang="en-US" sz="2800" kern="0" dirty="0"/>
              <a:t> Datos</a:t>
            </a:r>
            <a:endParaRPr lang="en-US" sz="3200" kern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7D6E580-9A9E-C3A9-46DD-1F66237F1BDE}"/>
              </a:ext>
            </a:extLst>
          </p:cNvPr>
          <p:cNvSpPr/>
          <p:nvPr/>
        </p:nvSpPr>
        <p:spPr>
          <a:xfrm>
            <a:off x="555619" y="4068451"/>
            <a:ext cx="931556" cy="35529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Despliegue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C7FE9B-81AC-03F4-F0D2-3DF955B567FA}"/>
              </a:ext>
            </a:extLst>
          </p:cNvPr>
          <p:cNvSpPr/>
          <p:nvPr/>
        </p:nvSpPr>
        <p:spPr>
          <a:xfrm>
            <a:off x="3505200" y="4267200"/>
            <a:ext cx="1524000" cy="6858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A88B8B8-C5DE-0D49-CE4C-BD1349B71CD4}"/>
              </a:ext>
            </a:extLst>
          </p:cNvPr>
          <p:cNvSpPr txBox="1">
            <a:spLocks/>
          </p:cNvSpPr>
          <p:nvPr/>
        </p:nvSpPr>
        <p:spPr>
          <a:xfrm>
            <a:off x="6019799" y="3588144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Modelado</a:t>
            </a:r>
            <a:endParaRPr lang="en-US" sz="3200" kern="0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A5F9020-A041-525E-2557-E606D24B7CAA}"/>
              </a:ext>
            </a:extLst>
          </p:cNvPr>
          <p:cNvSpPr txBox="1">
            <a:spLocks/>
          </p:cNvSpPr>
          <p:nvPr/>
        </p:nvSpPr>
        <p:spPr>
          <a:xfrm>
            <a:off x="6025662" y="4506777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Evaluación</a:t>
            </a:r>
            <a:endParaRPr lang="en-US" sz="3200" kern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F2C3B9-331E-6EE2-5F30-E3E6315A02DB}"/>
              </a:ext>
            </a:extLst>
          </p:cNvPr>
          <p:cNvSpPr/>
          <p:nvPr/>
        </p:nvSpPr>
        <p:spPr>
          <a:xfrm>
            <a:off x="241588" y="38100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B6B3D0-F181-901B-A210-9C51B6D7B2FC}"/>
              </a:ext>
            </a:extLst>
          </p:cNvPr>
          <p:cNvSpPr/>
          <p:nvPr/>
        </p:nvSpPr>
        <p:spPr>
          <a:xfrm>
            <a:off x="1981200" y="5410200"/>
            <a:ext cx="1600200" cy="990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F607E1DF-49BF-8EDB-8212-9B6B8445EB98}"/>
              </a:ext>
            </a:extLst>
          </p:cNvPr>
          <p:cNvSpPr txBox="1">
            <a:spLocks/>
          </p:cNvSpPr>
          <p:nvPr/>
        </p:nvSpPr>
        <p:spPr>
          <a:xfrm>
            <a:off x="6019800" y="5216392"/>
            <a:ext cx="38460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dirty="0" err="1"/>
              <a:t>Despliegue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565062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CuadroTexto">
            <a:extLst>
              <a:ext uri="{FF2B5EF4-FFF2-40B4-BE49-F238E27FC236}">
                <a16:creationId xmlns:a16="http://schemas.microsoft.com/office/drawing/2014/main" id="{FD31F9DC-A9CA-4517-8CAA-0408AA355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88840"/>
            <a:ext cx="75612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Aprendizaje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No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Supervisado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</a:t>
            </a:r>
            <a:r>
              <a:rPr lang="en-US" altLang="es-ES" sz="18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s-ES" sz="1800" b="1" dirty="0" err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Refuerzo</a:t>
            </a:r>
            <a:endParaRPr lang="en-US" altLang="es-ES" sz="1800" b="1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solidFill>
                <a:srgbClr val="00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5067</TotalTime>
  <Words>780</Words>
  <Application>Microsoft Office PowerPoint</Application>
  <PresentationFormat>Presentación en pantalla (4:3)</PresentationFormat>
  <Paragraphs>188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Tahoma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SERGIO GRACIA BOROBIA</cp:lastModifiedBy>
  <cp:revision>65</cp:revision>
  <cp:lastPrinted>2023-02-07T12:05:19Z</cp:lastPrinted>
  <dcterms:created xsi:type="dcterms:W3CDTF">2021-09-14T20:37:11Z</dcterms:created>
  <dcterms:modified xsi:type="dcterms:W3CDTF">2026-01-23T19:03:30Z</dcterms:modified>
</cp:coreProperties>
</file>