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311" r:id="rId4"/>
    <p:sldId id="312" r:id="rId5"/>
    <p:sldId id="259" r:id="rId6"/>
    <p:sldId id="319" r:id="rId7"/>
    <p:sldId id="320" r:id="rId8"/>
    <p:sldId id="321" r:id="rId9"/>
    <p:sldId id="322" r:id="rId10"/>
    <p:sldId id="323" r:id="rId11"/>
    <p:sldId id="316" r:id="rId12"/>
    <p:sldId id="314" r:id="rId13"/>
    <p:sldId id="315" r:id="rId14"/>
    <p:sldId id="324" r:id="rId15"/>
    <p:sldId id="325" r:id="rId16"/>
    <p:sldId id="310" r:id="rId17"/>
  </p:sldIdLst>
  <p:sldSz cx="9144000" cy="6858000" type="screen4x3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000"/>
    <a:srgbClr val="F2F26A"/>
    <a:srgbClr val="FFFF66"/>
    <a:srgbClr val="FFCCFF"/>
    <a:srgbClr val="CCFFCC"/>
    <a:srgbClr val="F6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716CDF-120E-482C-BBF0-7778A9EB39E3}" v="1590" dt="2026-01-24T11:11:01.8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85593" autoAdjust="0"/>
  </p:normalViewPr>
  <p:slideViewPr>
    <p:cSldViewPr>
      <p:cViewPr varScale="1">
        <p:scale>
          <a:sx n="95" d="100"/>
          <a:sy n="95" d="100"/>
        </p:scale>
        <p:origin x="1662" y="72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GRACIA BOROBIA" userId="bb361f61-d90b-4261-91df-891e2f0c5abe" providerId="ADAL" clId="{E42CE336-B86E-4034-816D-9DC89E1988DB}"/>
    <pc:docChg chg="undo custSel addSld delSld modSld">
      <pc:chgData name="SERGIO GRACIA BOROBIA" userId="bb361f61-d90b-4261-91df-891e2f0c5abe" providerId="ADAL" clId="{E42CE336-B86E-4034-816D-9DC89E1988DB}" dt="2026-01-24T11:11:01.880" v="1742" actId="1076"/>
      <pc:docMkLst>
        <pc:docMk/>
      </pc:docMkLst>
      <pc:sldChg chg="modSp">
        <pc:chgData name="SERGIO GRACIA BOROBIA" userId="bb361f61-d90b-4261-91df-891e2f0c5abe" providerId="ADAL" clId="{E42CE336-B86E-4034-816D-9DC89E1988DB}" dt="2026-01-16T19:45:51.024" v="17" actId="20577"/>
        <pc:sldMkLst>
          <pc:docMk/>
          <pc:sldMk cId="0" sldId="259"/>
        </pc:sldMkLst>
        <pc:spChg chg="mod">
          <ac:chgData name="SERGIO GRACIA BOROBIA" userId="bb361f61-d90b-4261-91df-891e2f0c5abe" providerId="ADAL" clId="{E42CE336-B86E-4034-816D-9DC89E1988DB}" dt="2026-01-16T19:45:51.024" v="17" actId="20577"/>
          <ac:spMkLst>
            <pc:docMk/>
            <pc:sldMk cId="0" sldId="259"/>
            <ac:spMk id="4" creationId="{77D5C97C-DDBC-2C58-0315-F9A29234A268}"/>
          </ac:spMkLst>
        </pc:spChg>
      </pc:sldChg>
      <pc:sldChg chg="modSp mod">
        <pc:chgData name="SERGIO GRACIA BOROBIA" userId="bb361f61-d90b-4261-91df-891e2f0c5abe" providerId="ADAL" clId="{E42CE336-B86E-4034-816D-9DC89E1988DB}" dt="2026-01-16T19:54:29.223" v="57" actId="1076"/>
        <pc:sldMkLst>
          <pc:docMk/>
          <pc:sldMk cId="2108884409" sldId="315"/>
        </pc:sldMkLst>
        <pc:spChg chg="mod">
          <ac:chgData name="SERGIO GRACIA BOROBIA" userId="bb361f61-d90b-4261-91df-891e2f0c5abe" providerId="ADAL" clId="{E42CE336-B86E-4034-816D-9DC89E1988DB}" dt="2026-01-16T19:54:29.223" v="57" actId="1076"/>
          <ac:spMkLst>
            <pc:docMk/>
            <pc:sldMk cId="2108884409" sldId="315"/>
            <ac:spMk id="9" creationId="{2A21EA0A-6ABB-6F70-BA48-2CA13FDB366D}"/>
          </ac:spMkLst>
        </pc:spChg>
      </pc:sldChg>
      <pc:sldChg chg="addSp delSp modSp mod">
        <pc:chgData name="SERGIO GRACIA BOROBIA" userId="bb361f61-d90b-4261-91df-891e2f0c5abe" providerId="ADAL" clId="{E42CE336-B86E-4034-816D-9DC89E1988DB}" dt="2026-01-16T19:56:47.203" v="305" actId="6549"/>
        <pc:sldMkLst>
          <pc:docMk/>
          <pc:sldMk cId="745942254" sldId="316"/>
        </pc:sldMkLst>
        <pc:spChg chg="mod">
          <ac:chgData name="SERGIO GRACIA BOROBIA" userId="bb361f61-d90b-4261-91df-891e2f0c5abe" providerId="ADAL" clId="{E42CE336-B86E-4034-816D-9DC89E1988DB}" dt="2026-01-16T19:56:47.203" v="305" actId="6549"/>
          <ac:spMkLst>
            <pc:docMk/>
            <pc:sldMk cId="745942254" sldId="316"/>
            <ac:spMk id="4" creationId="{41FFD286-5C1B-F1D4-837F-98BC32685E61}"/>
          </ac:spMkLst>
        </pc:spChg>
        <pc:picChg chg="add mod">
          <ac:chgData name="SERGIO GRACIA BOROBIA" userId="bb361f61-d90b-4261-91df-891e2f0c5abe" providerId="ADAL" clId="{E42CE336-B86E-4034-816D-9DC89E1988DB}" dt="2026-01-16T19:53:14.318" v="53" actId="1076"/>
          <ac:picMkLst>
            <pc:docMk/>
            <pc:sldMk cId="745942254" sldId="316"/>
            <ac:picMk id="8" creationId="{432E48F3-3A40-D399-6101-EFA19D4437A7}"/>
          </ac:picMkLst>
        </pc:picChg>
        <pc:picChg chg="add mod">
          <ac:chgData name="SERGIO GRACIA BOROBIA" userId="bb361f61-d90b-4261-91df-891e2f0c5abe" providerId="ADAL" clId="{E42CE336-B86E-4034-816D-9DC89E1988DB}" dt="2026-01-16T19:53:18.819" v="54" actId="1076"/>
          <ac:picMkLst>
            <pc:docMk/>
            <pc:sldMk cId="745942254" sldId="316"/>
            <ac:picMk id="10" creationId="{19AF515C-AC81-F68D-BEED-E3D5D17DA09C}"/>
          </ac:picMkLst>
        </pc:picChg>
      </pc:sldChg>
      <pc:sldChg chg="modSp mod">
        <pc:chgData name="SERGIO GRACIA BOROBIA" userId="bb361f61-d90b-4261-91df-891e2f0c5abe" providerId="ADAL" clId="{E42CE336-B86E-4034-816D-9DC89E1988DB}" dt="2026-01-16T19:47:33.201" v="26" actId="113"/>
        <pc:sldMkLst>
          <pc:docMk/>
          <pc:sldMk cId="2571725892" sldId="320"/>
        </pc:sldMkLst>
        <pc:spChg chg="mod">
          <ac:chgData name="SERGIO GRACIA BOROBIA" userId="bb361f61-d90b-4261-91df-891e2f0c5abe" providerId="ADAL" clId="{E42CE336-B86E-4034-816D-9DC89E1988DB}" dt="2026-01-16T19:47:33.201" v="26" actId="113"/>
          <ac:spMkLst>
            <pc:docMk/>
            <pc:sldMk cId="2571725892" sldId="320"/>
            <ac:spMk id="2" creationId="{0C952516-5670-8981-DA65-67356F370899}"/>
          </ac:spMkLst>
        </pc:spChg>
        <pc:spChg chg="mod">
          <ac:chgData name="SERGIO GRACIA BOROBIA" userId="bb361f61-d90b-4261-91df-891e2f0c5abe" providerId="ADAL" clId="{E42CE336-B86E-4034-816D-9DC89E1988DB}" dt="2026-01-16T19:47:07.136" v="25" actId="20577"/>
          <ac:spMkLst>
            <pc:docMk/>
            <pc:sldMk cId="2571725892" sldId="320"/>
            <ac:spMk id="4" creationId="{05B085F0-5805-D824-3577-6E649A16BB39}"/>
          </ac:spMkLst>
        </pc:spChg>
      </pc:sldChg>
      <pc:sldChg chg="modSp mod">
        <pc:chgData name="SERGIO GRACIA BOROBIA" userId="bb361f61-d90b-4261-91df-891e2f0c5abe" providerId="ADAL" clId="{E42CE336-B86E-4034-816D-9DC89E1988DB}" dt="2026-01-16T19:47:50.634" v="28" actId="20577"/>
        <pc:sldMkLst>
          <pc:docMk/>
          <pc:sldMk cId="618722788" sldId="321"/>
        </pc:sldMkLst>
        <pc:spChg chg="mod">
          <ac:chgData name="SERGIO GRACIA BOROBIA" userId="bb361f61-d90b-4261-91df-891e2f0c5abe" providerId="ADAL" clId="{E42CE336-B86E-4034-816D-9DC89E1988DB}" dt="2026-01-16T19:47:34.994" v="27" actId="113"/>
          <ac:spMkLst>
            <pc:docMk/>
            <pc:sldMk cId="618722788" sldId="321"/>
            <ac:spMk id="2" creationId="{2514E2B9-C586-F990-719E-13628571F025}"/>
          </ac:spMkLst>
        </pc:spChg>
        <pc:spChg chg="mod">
          <ac:chgData name="SERGIO GRACIA BOROBIA" userId="bb361f61-d90b-4261-91df-891e2f0c5abe" providerId="ADAL" clId="{E42CE336-B86E-4034-816D-9DC89E1988DB}" dt="2026-01-16T19:47:50.634" v="28" actId="20577"/>
          <ac:spMkLst>
            <pc:docMk/>
            <pc:sldMk cId="618722788" sldId="321"/>
            <ac:spMk id="3" creationId="{E64E29E0-CB23-4E00-C3FF-55AA2518B310}"/>
          </ac:spMkLst>
        </pc:spChg>
      </pc:sldChg>
      <pc:sldChg chg="modSp mod">
        <pc:chgData name="SERGIO GRACIA BOROBIA" userId="bb361f61-d90b-4261-91df-891e2f0c5abe" providerId="ADAL" clId="{E42CE336-B86E-4034-816D-9DC89E1988DB}" dt="2026-01-16T19:48:24.379" v="29" actId="113"/>
        <pc:sldMkLst>
          <pc:docMk/>
          <pc:sldMk cId="3001530522" sldId="322"/>
        </pc:sldMkLst>
        <pc:spChg chg="mod">
          <ac:chgData name="SERGIO GRACIA BOROBIA" userId="bb361f61-d90b-4261-91df-891e2f0c5abe" providerId="ADAL" clId="{E42CE336-B86E-4034-816D-9DC89E1988DB}" dt="2026-01-16T19:48:24.379" v="29" actId="113"/>
          <ac:spMkLst>
            <pc:docMk/>
            <pc:sldMk cId="3001530522" sldId="322"/>
            <ac:spMk id="2" creationId="{F79A7268-221E-35FF-F128-5CCC51B467F0}"/>
          </ac:spMkLst>
        </pc:spChg>
      </pc:sldChg>
      <pc:sldChg chg="modSp mod">
        <pc:chgData name="SERGIO GRACIA BOROBIA" userId="bb361f61-d90b-4261-91df-891e2f0c5abe" providerId="ADAL" clId="{E42CE336-B86E-4034-816D-9DC89E1988DB}" dt="2026-01-23T19:32:09.286" v="1736" actId="6549"/>
        <pc:sldMkLst>
          <pc:docMk/>
          <pc:sldMk cId="1236287024" sldId="323"/>
        </pc:sldMkLst>
        <pc:spChg chg="mod">
          <ac:chgData name="SERGIO GRACIA BOROBIA" userId="bb361f61-d90b-4261-91df-891e2f0c5abe" providerId="ADAL" clId="{E42CE336-B86E-4034-816D-9DC89E1988DB}" dt="2026-01-16T19:48:27.743" v="30" actId="113"/>
          <ac:spMkLst>
            <pc:docMk/>
            <pc:sldMk cId="1236287024" sldId="323"/>
            <ac:spMk id="2" creationId="{2D5628B0-73E0-DFA7-E1F9-A2BD36BFB1D3}"/>
          </ac:spMkLst>
        </pc:spChg>
        <pc:spChg chg="mod">
          <ac:chgData name="SERGIO GRACIA BOROBIA" userId="bb361f61-d90b-4261-91df-891e2f0c5abe" providerId="ADAL" clId="{E42CE336-B86E-4034-816D-9DC89E1988DB}" dt="2026-01-23T19:32:09.286" v="1736" actId="6549"/>
          <ac:spMkLst>
            <pc:docMk/>
            <pc:sldMk cId="1236287024" sldId="323"/>
            <ac:spMk id="3" creationId="{4EE0C461-C94E-F4B1-36F3-B5D03ED8D3C0}"/>
          </ac:spMkLst>
        </pc:spChg>
      </pc:sldChg>
      <pc:sldChg chg="addSp delSp modSp add mod modAnim">
        <pc:chgData name="SERGIO GRACIA BOROBIA" userId="bb361f61-d90b-4261-91df-891e2f0c5abe" providerId="ADAL" clId="{E42CE336-B86E-4034-816D-9DC89E1988DB}" dt="2026-01-21T19:37:52.263" v="1451" actId="20577"/>
        <pc:sldMkLst>
          <pc:docMk/>
          <pc:sldMk cId="0" sldId="324"/>
        </pc:sldMkLst>
        <pc:spChg chg="add mod">
          <ac:chgData name="SERGIO GRACIA BOROBIA" userId="bb361f61-d90b-4261-91df-891e2f0c5abe" providerId="ADAL" clId="{E42CE336-B86E-4034-816D-9DC89E1988DB}" dt="2026-01-21T19:31:34.685" v="799" actId="20577"/>
          <ac:spMkLst>
            <pc:docMk/>
            <pc:sldMk cId="0" sldId="324"/>
            <ac:spMk id="3" creationId="{76B47F24-2C2D-EF1D-D359-53FDFC4816BF}"/>
          </ac:spMkLst>
        </pc:spChg>
        <pc:spChg chg="mod">
          <ac:chgData name="SERGIO GRACIA BOROBIA" userId="bb361f61-d90b-4261-91df-891e2f0c5abe" providerId="ADAL" clId="{E42CE336-B86E-4034-816D-9DC89E1988DB}" dt="2026-01-21T19:31:06.457" v="755" actId="20577"/>
          <ac:spMkLst>
            <pc:docMk/>
            <pc:sldMk cId="0" sldId="324"/>
            <ac:spMk id="6" creationId="{1E13100D-C9DE-49A9-BE93-D705F14BCE47}"/>
          </ac:spMkLst>
        </pc:spChg>
        <pc:spChg chg="add mod">
          <ac:chgData name="SERGIO GRACIA BOROBIA" userId="bb361f61-d90b-4261-91df-891e2f0c5abe" providerId="ADAL" clId="{E42CE336-B86E-4034-816D-9DC89E1988DB}" dt="2026-01-21T19:37:52.263" v="1451" actId="20577"/>
          <ac:spMkLst>
            <pc:docMk/>
            <pc:sldMk cId="0" sldId="324"/>
            <ac:spMk id="7" creationId="{4E3102D5-2D6F-C74C-DCFE-7EAE18F5D62B}"/>
          </ac:spMkLst>
        </pc:spChg>
      </pc:sldChg>
      <pc:sldChg chg="addSp modSp add del mod modAnim">
        <pc:chgData name="SERGIO GRACIA BOROBIA" userId="bb361f61-d90b-4261-91df-891e2f0c5abe" providerId="ADAL" clId="{E42CE336-B86E-4034-816D-9DC89E1988DB}" dt="2026-01-24T11:11:01.880" v="1742" actId="1076"/>
        <pc:sldMkLst>
          <pc:docMk/>
          <pc:sldMk cId="2184324481" sldId="325"/>
        </pc:sldMkLst>
        <pc:spChg chg="mod">
          <ac:chgData name="SERGIO GRACIA BOROBIA" userId="bb361f61-d90b-4261-91df-891e2f0c5abe" providerId="ADAL" clId="{E42CE336-B86E-4034-816D-9DC89E1988DB}" dt="2026-01-24T11:11:00.265" v="1741" actId="1076"/>
          <ac:spMkLst>
            <pc:docMk/>
            <pc:sldMk cId="2184324481" sldId="325"/>
            <ac:spMk id="3" creationId="{99274682-6CE3-35FD-9BC2-406FDC6E948E}"/>
          </ac:spMkLst>
        </pc:spChg>
        <pc:spChg chg="mod">
          <ac:chgData name="SERGIO GRACIA BOROBIA" userId="bb361f61-d90b-4261-91df-891e2f0c5abe" providerId="ADAL" clId="{E42CE336-B86E-4034-816D-9DC89E1988DB}" dt="2026-01-21T19:41:57.711" v="1692" actId="20577"/>
          <ac:spMkLst>
            <pc:docMk/>
            <pc:sldMk cId="2184324481" sldId="325"/>
            <ac:spMk id="7" creationId="{653615A0-2C6C-5D6A-EFAE-690A5A92D662}"/>
          </ac:spMkLst>
        </pc:spChg>
        <pc:picChg chg="add mod">
          <ac:chgData name="SERGIO GRACIA BOROBIA" userId="bb361f61-d90b-4261-91df-891e2f0c5abe" providerId="ADAL" clId="{E42CE336-B86E-4034-816D-9DC89E1988DB}" dt="2026-01-24T11:11:01.880" v="1742" actId="1076"/>
          <ac:picMkLst>
            <pc:docMk/>
            <pc:sldMk cId="2184324481" sldId="325"/>
            <ac:picMk id="2" creationId="{FF2CEA26-EE7E-6397-2D7C-A00B1A03EEB6}"/>
          </ac:picMkLst>
        </pc:picChg>
        <pc:picChg chg="add mod">
          <ac:chgData name="SERGIO GRACIA BOROBIA" userId="bb361f61-d90b-4261-91df-891e2f0c5abe" providerId="ADAL" clId="{E42CE336-B86E-4034-816D-9DC89E1988DB}" dt="2026-01-21T19:47:25.754" v="1699" actId="1076"/>
          <ac:picMkLst>
            <pc:docMk/>
            <pc:sldMk cId="2184324481" sldId="325"/>
            <ac:picMk id="4" creationId="{9BD8F5AA-FE2A-A11B-3A8F-8B512CF61E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708" y="4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D3D0D4E-673E-4329-8E8F-0A7ECA07A86F}" type="datetimeFigureOut">
              <a:rPr lang="es-ES" smtClean="0"/>
              <a:t>24/01/2026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11"/>
            <a:ext cx="5679440" cy="402987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3" y="9720519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708" y="9720519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ED8801B-1EFE-4F74-B295-13CB0EA9A6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243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22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3978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3F95-664B-24BC-5C57-852845C9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A2F4BB-FDAA-03F8-4C7F-3B10C59B8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7A9D4D-60CC-CC39-C25D-B29985969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87A28E-5813-EB25-12B9-D5BD3FFFF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3504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ACD62-D558-8D01-800A-9FAF67DD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B87456-F631-8A37-F2F2-F757F3C3D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206E38-B978-DCAC-A125-94BD460B9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F8CB34-433B-6EDD-1C66-F6951CC31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233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755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A4178-B625-34CF-493E-350D14CE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38F184-EA1C-6CBD-FDDF-3DE8D40FC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7EC5B4-BF7E-44D5-6A91-D1AA01EB4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2604DD-9A3C-C2D4-6A48-1E09D185E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419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A4A5-29F9-BAD8-30E9-0B96D5D8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1FFF20-3F9F-D73F-79B9-87D095332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4F035A-D89D-5BC6-AF99-350844154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96D405-3837-E980-762A-281FB06E1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534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98BF-DA0C-D723-7353-BB9ECDA1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318156-945D-9CBE-333D-D422B68AA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E31694-DDC0-C211-FD7A-C020E3EBC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947BBB-C839-FBB0-57B9-2CB70708C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4326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B5F3-4A58-EE8F-BB69-B4C0DEC5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E2B139-E88E-8249-00BD-B24B764F4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987F2A9-8EDE-CAF6-2826-8DB0C2ACA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147E3F-C01E-F567-A1B8-88C56AED3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8002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D4FDE-F30E-B645-3A3C-D15D98EA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308E70-E0F0-3D13-06D7-04A01D26C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E2B93F-B8FA-C5A9-DB88-476A3E5A5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EEA66-286F-FA8F-C92F-8F9862990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1864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68B6-4417-D2D2-77E9-06E770F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1484BB-C7EA-0793-C0AC-BA3ED749F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91C541-5CD0-DD98-BC9B-F0AC4B174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CD8CB5-577B-FD01-F301-D7E55FA55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1684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F5C2-28A5-8351-AEA7-AA6CA8AB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A9B74B-C30A-735B-6ECA-7916D868C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FFCC07-295A-4FB5-3DFA-48DC9A192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732D7A-378E-DABF-85AF-0C68038BC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6605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2776-0889-F006-E0C1-D182F35C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40C626-0075-F15C-CC31-B035A4B26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778C14-E4EE-5940-1123-FEF566A3F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BDE00E-90E4-16D7-6B69-3FFC4D849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2967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755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6D62-52CC-7DEC-6AE6-4610E3B5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A1CB0F-CC61-402B-B0E1-478CE9ECF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DF76AB-ABA1-6E7B-BE31-E33388FDB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FFC8E8-E2EE-FC80-5F95-C36617A51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313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423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43200" y="460057"/>
            <a:ext cx="587057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3C8403E6-CBBA-479B-9902-FC76102A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B7C66-04A3-42D5-AEFB-859B5F519E29}" type="datetimeFigureOut">
              <a:rPr lang="es-ES" altLang="es-ES"/>
              <a:pPr>
                <a:defRPr/>
              </a:pPr>
              <a:t>24/01/2026</a:t>
            </a:fld>
            <a:endParaRPr lang="es-ES" altLang="es-E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ACD06275-163C-4939-8968-BCD64885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29218632-EDC8-4CEB-8AC5-7C449E43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8BF4E-42ED-45C7-9572-BC9B2FC6CFC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4552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9399" y="451247"/>
            <a:ext cx="580008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436496"/>
            <a:ext cx="8049259" cy="3507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r"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sgracia@usj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da.io/projects/conda/en/latest/user-guide/tasks/manage-environment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CuadroTexto">
            <a:extLst>
              <a:ext uri="{FF2B5EF4-FFF2-40B4-BE49-F238E27FC236}">
                <a16:creationId xmlns:a16="http://schemas.microsoft.com/office/drawing/2014/main" id="{498E3EBF-5C85-4B77-9974-A174B730C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756126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ESCUELA DE ARQUITECTURA Y TECNOLOGÍA (EARTE)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Aprendizaje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No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Supervisado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por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Refuerzo</a:t>
            </a:r>
            <a:endParaRPr lang="en-US" altLang="es-ES" sz="1800" b="1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Sergio Gracia Borobia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2000" b="1" dirty="0" err="1">
                <a:solidFill>
                  <a:srgbClr val="E46C0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Bloque</a:t>
            </a:r>
            <a:r>
              <a:rPr lang="en-US" altLang="es-ES" sz="2000" b="1" dirty="0">
                <a:solidFill>
                  <a:srgbClr val="E46C0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2800" b="1" dirty="0" err="1">
                <a:solidFill>
                  <a:srgbClr val="E46C0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Introducción</a:t>
            </a:r>
            <a:endParaRPr lang="en-US" altLang="es-ES" sz="2800" b="1" dirty="0">
              <a:solidFill>
                <a:srgbClr val="E46C0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s-ES" sz="4400" spc="-80" dirty="0"/>
              <a:t>Agenda</a:t>
            </a:r>
            <a:endParaRPr sz="4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153B3D-5067-BFB9-ED5C-F06479E8FD01}"/>
              </a:ext>
            </a:extLst>
          </p:cNvPr>
          <p:cNvSpPr txBox="1"/>
          <p:nvPr/>
        </p:nvSpPr>
        <p:spPr>
          <a:xfrm>
            <a:off x="1219200" y="1981200"/>
            <a:ext cx="594360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Guía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Docente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Metodología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 CRISP-DM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7456-0204-6644-BC5B-FDEB8C98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6980364F-5374-7B08-5D99-E2D4EF65DAA2}"/>
              </a:ext>
            </a:extLst>
          </p:cNvPr>
          <p:cNvSpPr txBox="1">
            <a:spLocks/>
          </p:cNvSpPr>
          <p:nvPr/>
        </p:nvSpPr>
        <p:spPr>
          <a:xfrm>
            <a:off x="457200" y="2960923"/>
            <a:ext cx="8229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6000" kern="0" spc="-35" dirty="0"/>
              <a:t>GUÍA DOCENTE</a:t>
            </a:r>
            <a:endParaRPr lang="en-US" sz="6000" kern="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C007042-D412-7AD9-B4EF-AF72AADE592B}"/>
              </a:ext>
            </a:extLst>
          </p:cNvPr>
          <p:cNvCxnSpPr>
            <a:cxnSpLocks/>
          </p:cNvCxnSpPr>
          <p:nvPr/>
        </p:nvCxnSpPr>
        <p:spPr>
          <a:xfrm>
            <a:off x="914400" y="4572000"/>
            <a:ext cx="7315200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758F514-3004-E826-CE2D-50A7ACF2859C}"/>
              </a:ext>
            </a:extLst>
          </p:cNvPr>
          <p:cNvCxnSpPr>
            <a:cxnSpLocks/>
          </p:cNvCxnSpPr>
          <p:nvPr/>
        </p:nvCxnSpPr>
        <p:spPr>
          <a:xfrm>
            <a:off x="990600" y="2286000"/>
            <a:ext cx="7315200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47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2E0A-6D45-5EDB-EB72-74BF0E8E1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03862E79-6CAD-F272-75BC-8D039D6E6AD3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883302-0D3B-EB0A-3118-6B22C7B87A22}"/>
              </a:ext>
            </a:extLst>
          </p:cNvPr>
          <p:cNvSpPr txBox="1"/>
          <p:nvPr/>
        </p:nvSpPr>
        <p:spPr>
          <a:xfrm>
            <a:off x="2209800" y="2751380"/>
            <a:ext cx="5334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Fundamentos de Programación: Python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Estructuras de Datos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Estadística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Matemáticas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Álgebra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F084F73-D9DE-37A3-B53C-ECD170F266C1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Requisitos</a:t>
            </a:r>
            <a:r>
              <a:rPr lang="en-US" sz="2800" kern="0" dirty="0"/>
              <a:t> </a:t>
            </a:r>
            <a:r>
              <a:rPr lang="en-US" sz="2800" kern="0" dirty="0" err="1"/>
              <a:t>Previos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93341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280114-180F-1807-2B0C-ECE1DCCE922D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Contenido</a:t>
            </a:r>
            <a:r>
              <a:rPr lang="en-US" sz="2800" kern="0" dirty="0"/>
              <a:t> de la </a:t>
            </a:r>
            <a:r>
              <a:rPr lang="en-US" sz="2800" kern="0" dirty="0" err="1"/>
              <a:t>asignatura</a:t>
            </a:r>
            <a:endParaRPr lang="en-US" sz="3200" kern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D5C97C-DDBC-2C58-0315-F9A29234A268}"/>
              </a:ext>
            </a:extLst>
          </p:cNvPr>
          <p:cNvSpPr txBox="1"/>
          <p:nvPr/>
        </p:nvSpPr>
        <p:spPr>
          <a:xfrm>
            <a:off x="1676400" y="2362200"/>
            <a:ext cx="5334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marL="457200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Técnicas de preprocesamiento</a:t>
            </a:r>
          </a:p>
          <a:p>
            <a:pPr marL="914400" lvl="1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Reducción de la dimensionalidad</a:t>
            </a:r>
          </a:p>
          <a:p>
            <a:pPr marL="914400" lvl="1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Detección de anomalías</a:t>
            </a:r>
          </a:p>
          <a:p>
            <a:pPr marL="457200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</a:p>
          <a:p>
            <a:pPr marL="914400" lvl="1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Evaluación</a:t>
            </a:r>
          </a:p>
          <a:p>
            <a:pPr marL="457200" indent="-457200">
              <a:buClr>
                <a:srgbClr val="F78000"/>
              </a:buClr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Aprendizaje por refuerzo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E942AF1-EF29-1502-60A6-84CD48EA2730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341A-A127-8EC7-AC44-04BE6CFA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FBC03E-28AE-ACD1-627D-A2A11C70B6B9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Evaluación</a:t>
            </a:r>
            <a:endParaRPr lang="en-US" sz="3200" kern="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99645B9-1DC1-16F7-940F-0DEE326D4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105313"/>
              </p:ext>
            </p:extLst>
          </p:nvPr>
        </p:nvGraphicFramePr>
        <p:xfrm>
          <a:off x="1524000" y="2362200"/>
          <a:ext cx="6096000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387944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23368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Evaluación</a:t>
                      </a:r>
                    </a:p>
                  </a:txBody>
                  <a:tcPr>
                    <a:solidFill>
                      <a:srgbClr val="F7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Porcentaje</a:t>
                      </a:r>
                    </a:p>
                  </a:txBody>
                  <a:tcPr>
                    <a:solidFill>
                      <a:srgbClr val="F7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04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Pruebas escritas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41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Prácticas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817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0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Informe Tutor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501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816099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B2410DBE-C5BB-9A7E-EE31-0BE22DAD808C}"/>
              </a:ext>
            </a:extLst>
          </p:cNvPr>
          <p:cNvSpPr txBox="1"/>
          <p:nvPr/>
        </p:nvSpPr>
        <p:spPr>
          <a:xfrm>
            <a:off x="1752600" y="5291619"/>
            <a:ext cx="8534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buClr>
                <a:srgbClr val="F78000"/>
              </a:buClr>
              <a:buSzPts val="1400"/>
            </a:pPr>
            <a:r>
              <a:rPr lang="es-ES" sz="2000" dirty="0"/>
              <a:t>Es necesaria una </a:t>
            </a:r>
            <a:r>
              <a:rPr lang="es-ES" sz="2000" b="1" dirty="0"/>
              <a:t>media de 5 o más </a:t>
            </a:r>
            <a:r>
              <a:rPr lang="es-ES" sz="2000" dirty="0"/>
              <a:t>para aprobar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130F3F2-E476-FC3A-1828-212D1D24480B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20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7071-039A-427E-53CB-280B8978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952516-5670-8981-DA65-67356F370899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Evaluación</a:t>
            </a:r>
            <a:r>
              <a:rPr lang="en-US" sz="2800" kern="0" dirty="0"/>
              <a:t>: </a:t>
            </a:r>
            <a:r>
              <a:rPr lang="en-US" sz="2800" b="1" kern="0" dirty="0" err="1"/>
              <a:t>Exámenes</a:t>
            </a:r>
            <a:endParaRPr lang="en-US" sz="2800" b="1" kern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B085F0-5805-D824-3577-6E649A16BB39}"/>
              </a:ext>
            </a:extLst>
          </p:cNvPr>
          <p:cNvSpPr txBox="1"/>
          <p:nvPr/>
        </p:nvSpPr>
        <p:spPr>
          <a:xfrm>
            <a:off x="838200" y="2514600"/>
            <a:ext cx="7010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Se realizarán dos pruebas escritas, una al final del bloque 1, y otra al final del bloque 2.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Las pruebas están fijadas los días </a:t>
            </a:r>
            <a:r>
              <a:rPr lang="es-ES" sz="2000" b="1" dirty="0"/>
              <a:t>13 de Marzo </a:t>
            </a:r>
            <a:r>
              <a:rPr lang="es-ES" sz="2000" dirty="0"/>
              <a:t>y </a:t>
            </a:r>
            <a:r>
              <a:rPr lang="es-ES" sz="2000" b="1" dirty="0"/>
              <a:t>22 de Abril.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b="1" dirty="0"/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Es necesaria </a:t>
            </a:r>
            <a:r>
              <a:rPr lang="es-ES" sz="2000" b="1" dirty="0"/>
              <a:t>una puntuación de 4 o más</a:t>
            </a:r>
            <a:r>
              <a:rPr lang="es-ES" sz="2000" dirty="0"/>
              <a:t> en cada examen para considerarlo </a:t>
            </a:r>
            <a:r>
              <a:rPr lang="es-ES" sz="2000" b="1" dirty="0"/>
              <a:t>aprobado.</a:t>
            </a:r>
            <a:r>
              <a:rPr lang="es-ES" sz="2000" dirty="0"/>
              <a:t> 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b="1" dirty="0"/>
              <a:t>Cada uno </a:t>
            </a:r>
            <a:r>
              <a:rPr lang="es-ES" sz="2000" dirty="0"/>
              <a:t>de los exámenes cuenta </a:t>
            </a:r>
            <a:r>
              <a:rPr lang="es-ES" sz="2000" b="1" dirty="0"/>
              <a:t>un 20% de la nota final.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6D978E0-B9D1-AED5-6315-E4C0A8D680DA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72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2222-0E18-ACA7-72DD-D2A59EED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14E2B9-C586-F990-719E-13628571F025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Evaluación</a:t>
            </a:r>
            <a:r>
              <a:rPr lang="en-US" sz="2800" kern="0" dirty="0"/>
              <a:t>: </a:t>
            </a:r>
            <a:r>
              <a:rPr lang="en-US" sz="2800" b="1" kern="0" dirty="0" err="1"/>
              <a:t>Prácticas</a:t>
            </a:r>
            <a:endParaRPr lang="en-US" sz="2800" b="1" kern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4E29E0-CB23-4E00-C3FF-55AA2518B310}"/>
              </a:ext>
            </a:extLst>
          </p:cNvPr>
          <p:cNvSpPr txBox="1"/>
          <p:nvPr/>
        </p:nvSpPr>
        <p:spPr>
          <a:xfrm>
            <a:off x="838200" y="2362200"/>
            <a:ext cx="815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Se realizarán dos prácticas, a mitad del bloque 1 y bloque 2 respectivamente.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Consistirán en la realización de varios ejercicios a través de un Notebook.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b="1" dirty="0"/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b="1" dirty="0">
                <a:latin typeface="Calibri (Cuerpo)"/>
                <a:cs typeface="Arial" panose="020B0604020202020204" pitchFamily="34" charset="0"/>
              </a:rPr>
              <a:t>Cada una</a:t>
            </a:r>
            <a:r>
              <a:rPr lang="es-ES" sz="2000" dirty="0">
                <a:latin typeface="Calibri (Cuerpo)"/>
                <a:cs typeface="Arial" panose="020B0604020202020204" pitchFamily="34" charset="0"/>
              </a:rPr>
              <a:t> de las prácticas cuenta </a:t>
            </a:r>
            <a:r>
              <a:rPr lang="es-ES" sz="2000" b="1" dirty="0">
                <a:latin typeface="Calibri (Cuerpo)"/>
                <a:cs typeface="Arial" panose="020B0604020202020204" pitchFamily="34" charset="0"/>
              </a:rPr>
              <a:t>un 10% de la nota final</a:t>
            </a:r>
            <a:r>
              <a:rPr lang="es-ES" sz="2000" dirty="0">
                <a:latin typeface="Calibri (Cuerpo)"/>
                <a:cs typeface="Arial" panose="020B0604020202020204" pitchFamily="34" charset="0"/>
              </a:rPr>
              <a:t>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Calibri (Cuerpo)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Es necesaria </a:t>
            </a:r>
            <a:r>
              <a:rPr lang="es-ES" sz="2000" b="1" dirty="0"/>
              <a:t>una puntuación de 4 o más</a:t>
            </a:r>
            <a:r>
              <a:rPr lang="es-ES" sz="2000" dirty="0"/>
              <a:t> en cada práctica para considerarla </a:t>
            </a:r>
            <a:r>
              <a:rPr lang="es-ES" sz="2000" b="1" dirty="0"/>
              <a:t>aprobada.</a:t>
            </a:r>
            <a:endParaRPr lang="es-ES" sz="2000" dirty="0"/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b="1" dirty="0">
              <a:latin typeface="Calibri (Cuerpo)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EABD1F5-D261-25D1-7945-AF051D14D4AF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72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039C-63CF-C184-7CEE-F34BF0BB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9A7268-221E-35FF-F128-5CCC51B467F0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Evaluación</a:t>
            </a:r>
            <a:r>
              <a:rPr lang="en-US" sz="2800" kern="0" dirty="0"/>
              <a:t>: </a:t>
            </a:r>
            <a:r>
              <a:rPr lang="en-US" sz="2800" b="1" kern="0" dirty="0"/>
              <a:t>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EF01C6-E0D4-8C20-CE18-7493F101AB48}"/>
              </a:ext>
            </a:extLst>
          </p:cNvPr>
          <p:cNvSpPr txBox="1"/>
          <p:nvPr/>
        </p:nvSpPr>
        <p:spPr>
          <a:xfrm>
            <a:off x="607060" y="2145776"/>
            <a:ext cx="80086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Se realizarán un proyecto durante el Bloque 3.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El proyecto consistirá en una investigación sobre un tema concreto, tras la que se presentará </a:t>
            </a:r>
            <a:r>
              <a:rPr lang="es-ES" sz="2000" b="1" dirty="0"/>
              <a:t>una memoria escrita </a:t>
            </a:r>
            <a:r>
              <a:rPr lang="es-ES" sz="2000" dirty="0"/>
              <a:t>y se realizará una </a:t>
            </a:r>
            <a:r>
              <a:rPr lang="es-ES" sz="2000" b="1" dirty="0"/>
              <a:t>presentación oral.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La presentación del proyecto (tanto escrita como oral) se realizará el día fijado en periodo de evaluación.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Se evaluará </a:t>
            </a:r>
            <a:r>
              <a:rPr lang="es-ES" sz="2000" b="1" dirty="0"/>
              <a:t>el contenido de la memoria</a:t>
            </a:r>
            <a:r>
              <a:rPr lang="es-ES" sz="2000" dirty="0"/>
              <a:t> como un </a:t>
            </a:r>
            <a:r>
              <a:rPr lang="es-ES" sz="2000" b="1" dirty="0"/>
              <a:t>20% de la nota final</a:t>
            </a:r>
            <a:r>
              <a:rPr lang="es-ES" sz="2000" dirty="0"/>
              <a:t>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Se evaluará </a:t>
            </a:r>
            <a:r>
              <a:rPr lang="es-ES" sz="2000" b="1" dirty="0"/>
              <a:t>la presentación oral</a:t>
            </a:r>
            <a:r>
              <a:rPr lang="es-ES" sz="2000" dirty="0"/>
              <a:t> como un </a:t>
            </a:r>
            <a:r>
              <a:rPr lang="es-ES" sz="2000" b="1" dirty="0"/>
              <a:t>10% de la nota final</a:t>
            </a:r>
            <a:r>
              <a:rPr lang="es-ES" sz="2000" dirty="0"/>
              <a:t>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Es necesaria </a:t>
            </a:r>
            <a:r>
              <a:rPr lang="es-ES" sz="2000" b="1" dirty="0"/>
              <a:t>una puntuación de 4 o más</a:t>
            </a:r>
            <a:r>
              <a:rPr lang="es-ES" sz="2000" dirty="0"/>
              <a:t> en total (memoria + presentación) para considerarlo </a:t>
            </a:r>
            <a:r>
              <a:rPr lang="es-ES" sz="2000" b="1" dirty="0"/>
              <a:t>aprobado.</a:t>
            </a:r>
            <a:r>
              <a:rPr lang="es-ES" sz="2000" dirty="0"/>
              <a:t> 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4D90E06-9118-FE10-BB41-633AE70F3A40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53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8102-723F-1DA2-4FEB-66F77D484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5628B0-73E0-DFA7-E1F9-A2BD36BFB1D3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Evaluación</a:t>
            </a:r>
            <a:r>
              <a:rPr lang="en-US" sz="2800" kern="0" dirty="0"/>
              <a:t>: </a:t>
            </a:r>
            <a:r>
              <a:rPr lang="en-US" sz="2800" b="1" kern="0" dirty="0"/>
              <a:t>Informe Tutor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E0C461-C94E-F4B1-36F3-B5D03ED8D3C0}"/>
              </a:ext>
            </a:extLst>
          </p:cNvPr>
          <p:cNvSpPr txBox="1"/>
          <p:nvPr/>
        </p:nvSpPr>
        <p:spPr>
          <a:xfrm>
            <a:off x="607060" y="2145776"/>
            <a:ext cx="80086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/>
              <a:t>Se evaluará a través de diferentes actividades:</a:t>
            </a:r>
          </a:p>
          <a:p>
            <a:pPr marL="914400" lvl="1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+mj-lt"/>
                <a:cs typeface="Arial" panose="020B0604020202020204" pitchFamily="34" charset="0"/>
              </a:rPr>
              <a:t>En general, los </a:t>
            </a:r>
            <a:r>
              <a:rPr lang="es-ES" sz="2000" b="1" dirty="0">
                <a:latin typeface="+mj-lt"/>
                <a:cs typeface="Arial" panose="020B0604020202020204" pitchFamily="34" charset="0"/>
              </a:rPr>
              <a:t>miércoles</a:t>
            </a:r>
            <a:r>
              <a:rPr lang="es-ES" sz="2000" dirty="0">
                <a:latin typeface="+mj-lt"/>
                <a:cs typeface="Arial" panose="020B0604020202020204" pitchFamily="34" charset="0"/>
              </a:rPr>
              <a:t> realizaréis y entregaréis un resumen sobre qué habéis aprendido de la clase.</a:t>
            </a:r>
          </a:p>
          <a:p>
            <a:pPr marL="914400" lvl="1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+mj-lt"/>
                <a:cs typeface="Arial" panose="020B0604020202020204" pitchFamily="34" charset="0"/>
              </a:rPr>
              <a:t>Los </a:t>
            </a:r>
            <a:r>
              <a:rPr lang="es-ES" sz="2000" b="1" dirty="0">
                <a:latin typeface="+mj-lt"/>
                <a:cs typeface="Arial" panose="020B0604020202020204" pitchFamily="34" charset="0"/>
              </a:rPr>
              <a:t>viernes</a:t>
            </a:r>
            <a:r>
              <a:rPr lang="es-ES" sz="2000" dirty="0">
                <a:latin typeface="+mj-lt"/>
                <a:cs typeface="Arial" panose="020B0604020202020204" pitchFamily="34" charset="0"/>
              </a:rPr>
              <a:t> realizaremos diferentes tipos de actividades evaluables.</a:t>
            </a:r>
          </a:p>
          <a:p>
            <a:pPr marL="914400" lvl="1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+mj-lt"/>
                <a:cs typeface="Arial" panose="020B0604020202020204" pitchFamily="34" charset="0"/>
              </a:rPr>
              <a:t>Además, tendréis que explicar a la clase los resultados de una tarea por lo menos </a:t>
            </a:r>
            <a:r>
              <a:rPr lang="es-ES" sz="2000" b="1" dirty="0">
                <a:latin typeface="+mj-lt"/>
                <a:cs typeface="Arial" panose="020B0604020202020204" pitchFamily="34" charset="0"/>
              </a:rPr>
              <a:t>una vez por persona.</a:t>
            </a:r>
            <a:endParaRPr lang="es-ES" sz="2000" dirty="0">
              <a:latin typeface="+mj-lt"/>
              <a:cs typeface="Arial" panose="020B0604020202020204" pitchFamily="34" charset="0"/>
            </a:endParaRPr>
          </a:p>
          <a:p>
            <a:pPr marL="914400" lvl="1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+mj-lt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+mj-lt"/>
                <a:cs typeface="Arial" panose="020B0604020202020204" pitchFamily="34" charset="0"/>
              </a:rPr>
              <a:t>En conjunto, el informe </a:t>
            </a:r>
            <a:r>
              <a:rPr lang="es-ES" sz="2000">
                <a:latin typeface="+mj-lt"/>
                <a:cs typeface="Arial" panose="020B0604020202020204" pitchFamily="34" charset="0"/>
              </a:rPr>
              <a:t>tutor supone </a:t>
            </a:r>
            <a:r>
              <a:rPr lang="es-ES" sz="2000" b="1">
                <a:latin typeface="+mj-lt"/>
                <a:cs typeface="Arial" panose="020B0604020202020204" pitchFamily="34" charset="0"/>
              </a:rPr>
              <a:t>un </a:t>
            </a:r>
            <a:r>
              <a:rPr lang="es-ES" sz="2000" b="1" dirty="0">
                <a:latin typeface="+mj-lt"/>
                <a:cs typeface="Arial" panose="020B0604020202020204" pitchFamily="34" charset="0"/>
              </a:rPr>
              <a:t>10% de la nota final.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850075E-4B8F-99E1-9675-C3A8292CA724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28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D38C-DD1F-4872-4CF9-2B98E21F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EA4791-3FDA-14F3-8310-3A07F5A34A5B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/>
              <a:t>Asistencia</a:t>
            </a:r>
            <a:endParaRPr lang="en-US" sz="3200" kern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FFD286-5C1B-F1D4-837F-98BC32685E61}"/>
              </a:ext>
            </a:extLst>
          </p:cNvPr>
          <p:cNvSpPr txBox="1"/>
          <p:nvPr/>
        </p:nvSpPr>
        <p:spPr>
          <a:xfrm>
            <a:off x="381000" y="2165873"/>
            <a:ext cx="853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Calibri (Cuerpo)"/>
              </a:rPr>
              <a:t>Obligatorio asistir al 80% de las clases para poder aprobar</a:t>
            </a:r>
          </a:p>
          <a:p>
            <a:pPr marL="914400" lvl="1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Calibri (Cuerpo)"/>
              </a:rPr>
              <a:t>16 semanas de clase </a:t>
            </a:r>
            <a:r>
              <a:rPr lang="es-ES" sz="2000" dirty="0">
                <a:latin typeface="Calibri (Cuerpo)"/>
                <a:cs typeface="Arial" panose="020B0604020202020204" pitchFamily="34" charset="0"/>
              </a:rPr>
              <a:t>→ 27 días lectivos, 5 días no lectivos</a:t>
            </a:r>
          </a:p>
          <a:p>
            <a:pPr marL="914400" lvl="1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Calibri (Cuerpo)"/>
                <a:cs typeface="Arial" panose="020B0604020202020204" pitchFamily="34" charset="0"/>
              </a:rPr>
              <a:t>Como mínimo, asistir a 21 clases.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Calibri (Cuerpo)"/>
                <a:cs typeface="Arial" panose="020B0604020202020204" pitchFamily="34" charset="0"/>
              </a:rPr>
              <a:t>Es necesario justificar las faltas de asistencia (causa médica, </a:t>
            </a:r>
            <a:r>
              <a:rPr lang="es-ES" sz="2000" dirty="0" err="1">
                <a:latin typeface="Calibri (Cuerpo)"/>
                <a:cs typeface="Arial" panose="020B0604020202020204" pitchFamily="34" charset="0"/>
              </a:rPr>
              <a:t>etc</a:t>
            </a:r>
            <a:r>
              <a:rPr lang="es-ES" sz="2000" dirty="0">
                <a:latin typeface="Calibri (Cuerpo)"/>
                <a:cs typeface="Arial" panose="020B0604020202020204" pitchFamily="34" charset="0"/>
              </a:rPr>
              <a:t>…) a través de los documentos correspondientes.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Calibri (Cuerpo)"/>
                <a:cs typeface="Arial" panose="020B0604020202020204" pitchFamily="34" charset="0"/>
              </a:rPr>
              <a:t>La asistencia a los días de evaluación (exámenes y proyecto) es </a:t>
            </a:r>
            <a:r>
              <a:rPr lang="es-ES" sz="2000" b="1" dirty="0">
                <a:latin typeface="Calibri (Cuerpo)"/>
                <a:cs typeface="Arial" panose="020B0604020202020204" pitchFamily="34" charset="0"/>
              </a:rPr>
              <a:t>obligatoria. </a:t>
            </a:r>
            <a:r>
              <a:rPr lang="es-ES" sz="2000" dirty="0">
                <a:latin typeface="Calibri (Cuerpo)"/>
                <a:cs typeface="Arial" panose="020B0604020202020204" pitchFamily="34" charset="0"/>
              </a:rPr>
              <a:t>En caso de no poder asistir por causa justificada, buscaremos alguna solución.</a:t>
            </a:r>
            <a:endParaRPr lang="es-ES" sz="2000" b="1" dirty="0">
              <a:latin typeface="Calibri (Cuerpo)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D0DF7B0-3B55-C2E4-512E-9D18147AE8BC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pic>
        <p:nvPicPr>
          <p:cNvPr id="8" name="Imagen 7" descr="Tabla&#10;&#10;El contenido generado por IA puede ser incorrecto.">
            <a:extLst>
              <a:ext uri="{FF2B5EF4-FFF2-40B4-BE49-F238E27FC236}">
                <a16:creationId xmlns:a16="http://schemas.microsoft.com/office/drawing/2014/main" id="{432E48F3-3A40-D399-6101-EFA19D443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78" y="4752966"/>
            <a:ext cx="6858000" cy="1423358"/>
          </a:xfrm>
          <a:prstGeom prst="rect">
            <a:avLst/>
          </a:prstGeom>
        </p:spPr>
      </p:pic>
      <p:pic>
        <p:nvPicPr>
          <p:cNvPr id="10" name="Imagen 9" descr="Tabla&#10;&#10;El contenido generado por IA puede ser incorrecto.">
            <a:extLst>
              <a:ext uri="{FF2B5EF4-FFF2-40B4-BE49-F238E27FC236}">
                <a16:creationId xmlns:a16="http://schemas.microsoft.com/office/drawing/2014/main" id="{19AF515C-AC81-F68D-BEED-E3D5D17DA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312" y="4752966"/>
            <a:ext cx="2209688" cy="12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4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920F-9DE6-2C69-9D30-259F9EAF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A8EA1E-1399-F747-B017-2820C7A1C227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Tutorías</a:t>
            </a:r>
            <a:endParaRPr lang="en-US" sz="3200" kern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D3B899-87E4-BE00-0821-81A7B9787607}"/>
              </a:ext>
            </a:extLst>
          </p:cNvPr>
          <p:cNvSpPr txBox="1"/>
          <p:nvPr/>
        </p:nvSpPr>
        <p:spPr>
          <a:xfrm>
            <a:off x="304800" y="2514600"/>
            <a:ext cx="8534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Contactar conmigo a través del correo: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sgraciab@usj.com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>
              <a:buClr>
                <a:srgbClr val="F78000"/>
              </a:buClr>
              <a:buSzPts val="1400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 realizarán online (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Teams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Google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Meet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…) o presencialmente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después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de las clases.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D8A6E04-771D-D374-50EF-D8FBCD5EF972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10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18F3-EBC9-0BC4-B939-92BE6D03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A21EA0A-6ABB-6F70-BA48-2CA13FDB366D}"/>
              </a:ext>
            </a:extLst>
          </p:cNvPr>
          <p:cNvSpPr txBox="1"/>
          <p:nvPr/>
        </p:nvSpPr>
        <p:spPr>
          <a:xfrm>
            <a:off x="266700" y="2406922"/>
            <a:ext cx="8610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Burges, C. J. (2010). Dimension reduction: A guided tour. Foundations and Trends® in Machine Learning, 2(4), 275-365.</a:t>
            </a: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Géron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A. (2022). Hands-on machine learning with Scikit-Learn,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TensorFlow. " O'Reilly Media, Inc.".</a:t>
            </a: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Sutton, R. S. (2018). Reinforcement learning: An introduction. A Bradford Book.</a:t>
            </a:r>
            <a:endParaRPr lang="en-US" sz="2000" spc="2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23CE958-554B-421B-F4C0-62F80E8D4CEF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Bibliografía</a:t>
            </a:r>
            <a:endParaRPr lang="en-US" sz="3200" kern="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89367F7-FA94-59E1-6DF7-0BFE7ECFC501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dirty="0">
                <a:solidFill>
                  <a:srgbClr val="F78000"/>
                </a:solidFill>
              </a:rPr>
              <a:t>Guía </a:t>
            </a:r>
            <a:r>
              <a:rPr lang="en-US" sz="4400" kern="0" dirty="0" err="1">
                <a:solidFill>
                  <a:srgbClr val="F78000"/>
                </a:solidFill>
              </a:rPr>
              <a:t>Docente</a:t>
            </a:r>
            <a:endParaRPr lang="en-US" sz="4400" kern="0" dirty="0">
              <a:solidFill>
                <a:srgbClr val="F7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88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E13100D-C9DE-49A9-BE93-D705F14BCE47}"/>
              </a:ext>
            </a:extLst>
          </p:cNvPr>
          <p:cNvSpPr txBox="1">
            <a:spLocks/>
          </p:cNvSpPr>
          <p:nvPr/>
        </p:nvSpPr>
        <p:spPr>
          <a:xfrm>
            <a:off x="5676176" y="346703"/>
            <a:ext cx="329837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3600" kern="0" spc="-35" dirty="0">
                <a:solidFill>
                  <a:srgbClr val="F78000"/>
                </a:solidFill>
              </a:rPr>
              <a:t>Guía </a:t>
            </a:r>
            <a:r>
              <a:rPr lang="en-US" sz="3600" kern="0" spc="-35" dirty="0" err="1">
                <a:solidFill>
                  <a:srgbClr val="F78000"/>
                </a:solidFill>
              </a:rPr>
              <a:t>Docente</a:t>
            </a:r>
            <a:endParaRPr lang="en-US" sz="3600" kern="0" dirty="0">
              <a:solidFill>
                <a:srgbClr val="F78000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6B47F24-2C2D-EF1D-D359-53FDFC4816BF}"/>
              </a:ext>
            </a:extLst>
          </p:cNvPr>
          <p:cNvSpPr txBox="1">
            <a:spLocks/>
          </p:cNvSpPr>
          <p:nvPr/>
        </p:nvSpPr>
        <p:spPr>
          <a:xfrm>
            <a:off x="607060" y="1426027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/>
              <a:t>IA </a:t>
            </a:r>
            <a:r>
              <a:rPr lang="en-US" sz="2800" kern="0" dirty="0" err="1"/>
              <a:t>Generativa</a:t>
            </a:r>
            <a:endParaRPr lang="en-US" sz="3200" kern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3102D5-2D6F-C74C-DCFE-7EAE18F5D62B}"/>
              </a:ext>
            </a:extLst>
          </p:cNvPr>
          <p:cNvSpPr txBox="1"/>
          <p:nvPr/>
        </p:nvSpPr>
        <p:spPr>
          <a:xfrm>
            <a:off x="266700" y="2406922"/>
            <a:ext cx="8610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Salvo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se 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consentimiento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expreso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PROHIBIDO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uso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ChatGPT, Gemini, Copilot… 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similares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F78000"/>
              </a:buClr>
            </a:pPr>
            <a:endParaRPr lang="en-US" sz="2000" spc="2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endParaRPr lang="en-US" sz="2000" spc="2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Por tanto,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relacionado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hará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utilizando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2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2000" b="1" spc="20" dirty="0">
                <a:latin typeface="Arial" panose="020B0604020202020204" pitchFamily="34" charset="0"/>
                <a:cs typeface="Arial" panose="020B0604020202020204" pitchFamily="34" charset="0"/>
              </a:rPr>
              <a:t> Notebook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IDE, o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defecto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cualquier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IDE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tenga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integradas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basadas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IA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generativa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endParaRPr lang="en-US" sz="2000" spc="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Podéis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instalar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Notebook a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través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de Anaconda, o sus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distribuciones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miniconda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87BF-0E59-DC58-75B5-0FD2A20E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AB1F5CD8-EC48-DF1F-34A1-D238F474EB9A}"/>
              </a:ext>
            </a:extLst>
          </p:cNvPr>
          <p:cNvSpPr txBox="1">
            <a:spLocks/>
          </p:cNvSpPr>
          <p:nvPr/>
        </p:nvSpPr>
        <p:spPr>
          <a:xfrm>
            <a:off x="5676176" y="346703"/>
            <a:ext cx="329837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3600" kern="0" spc="-35" dirty="0">
                <a:solidFill>
                  <a:srgbClr val="F78000"/>
                </a:solidFill>
              </a:rPr>
              <a:t>Guía </a:t>
            </a:r>
            <a:r>
              <a:rPr lang="en-US" sz="3600" kern="0" spc="-35" dirty="0" err="1">
                <a:solidFill>
                  <a:srgbClr val="F78000"/>
                </a:solidFill>
              </a:rPr>
              <a:t>Docente</a:t>
            </a:r>
            <a:endParaRPr lang="en-US" sz="3600" kern="0" dirty="0">
              <a:solidFill>
                <a:srgbClr val="F78000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9274682-6CE3-35FD-9BC2-406FDC6E948E}"/>
              </a:ext>
            </a:extLst>
          </p:cNvPr>
          <p:cNvSpPr txBox="1">
            <a:spLocks/>
          </p:cNvSpPr>
          <p:nvPr/>
        </p:nvSpPr>
        <p:spPr>
          <a:xfrm>
            <a:off x="1283116" y="1439205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Ejercicio</a:t>
            </a:r>
            <a:r>
              <a:rPr lang="en-US" sz="2800" kern="0" dirty="0"/>
              <a:t>: </a:t>
            </a:r>
            <a:r>
              <a:rPr lang="en-US" sz="2800" kern="0" dirty="0" err="1"/>
              <a:t>Numpy</a:t>
            </a:r>
            <a:endParaRPr lang="en-US" sz="3200" kern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3615A0-2C6C-5D6A-EFAE-690A5A92D662}"/>
              </a:ext>
            </a:extLst>
          </p:cNvPr>
          <p:cNvSpPr txBox="1"/>
          <p:nvPr/>
        </p:nvSpPr>
        <p:spPr>
          <a:xfrm>
            <a:off x="266700" y="2406922"/>
            <a:ext cx="8610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Crea un nuevo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entorno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de Conda</a:t>
            </a:r>
          </a:p>
          <a:p>
            <a:pPr marL="742950" lvl="1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Puedes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seguir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documentación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https://docs.conda.io/projects/conda/en/latest/user-guide/tasks/manage-environments.html</a:t>
            </a:r>
            <a:endParaRPr lang="en-US" sz="2000" spc="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endParaRPr lang="en-US" sz="2000" spc="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Instala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librería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ese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entorno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endParaRPr lang="en-US" sz="2000" spc="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78000"/>
              </a:buClr>
              <a:buFont typeface="Arial" panose="020B0604020202020204" pitchFamily="34" charset="0"/>
              <a:buChar char="•"/>
            </a:pP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Utilizando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spc="20" dirty="0" err="1">
                <a:latin typeface="Arial" panose="020B0604020202020204" pitchFamily="34" charset="0"/>
                <a:cs typeface="Arial" panose="020B0604020202020204" pitchFamily="34" charset="0"/>
              </a:rPr>
              <a:t>calcula</a:t>
            </a:r>
            <a:r>
              <a:rPr lang="en-US" sz="2000" spc="2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9BD8F5AA-FE2A-A11B-3A8F-8B512CF61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856" y="5148740"/>
            <a:ext cx="1848288" cy="1306124"/>
          </a:xfrm>
          <a:prstGeom prst="rect">
            <a:avLst/>
          </a:prstGeom>
        </p:spPr>
      </p:pic>
      <p:pic>
        <p:nvPicPr>
          <p:cNvPr id="2" name="Picture 2" descr="Task Complete Icon Outline - Icon Shop - Download free icons for commercial  use">
            <a:extLst>
              <a:ext uri="{FF2B5EF4-FFF2-40B4-BE49-F238E27FC236}">
                <a16:creationId xmlns:a16="http://schemas.microsoft.com/office/drawing/2014/main" id="{FF2CEA26-EE7E-6397-2D7C-A00B1A03E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F7964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85805"/>
            <a:ext cx="1059114" cy="105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1 CuadroTexto">
            <a:extLst>
              <a:ext uri="{FF2B5EF4-FFF2-40B4-BE49-F238E27FC236}">
                <a16:creationId xmlns:a16="http://schemas.microsoft.com/office/drawing/2014/main" id="{FD31F9DC-A9CA-4517-8CAA-0408AA355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88840"/>
            <a:ext cx="75612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Aprendizaje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No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Supervisado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por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Refuerzo</a:t>
            </a:r>
            <a:endParaRPr lang="en-US" altLang="es-ES" sz="1800" b="1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6222</TotalTime>
  <Words>774</Words>
  <Application>Microsoft Office PowerPoint</Application>
  <PresentationFormat>Presentación en pantalla (4:3)</PresentationFormat>
  <Paragraphs>135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(Cuerpo)</vt:lpstr>
      <vt:lpstr>Tahoma</vt:lpstr>
      <vt:lpstr>Wingdings</vt:lpstr>
      <vt:lpstr>Office Theme</vt:lpstr>
      <vt:lpstr>Presentación de PowerPoint</vt:lpstr>
      <vt:lpstr>Agenda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SERGIO GRACIA BOROBIA</cp:lastModifiedBy>
  <cp:revision>62</cp:revision>
  <cp:lastPrinted>2023-02-07T12:05:19Z</cp:lastPrinted>
  <dcterms:created xsi:type="dcterms:W3CDTF">2021-09-14T20:37:11Z</dcterms:created>
  <dcterms:modified xsi:type="dcterms:W3CDTF">2026-01-24T11:11:02Z</dcterms:modified>
</cp:coreProperties>
</file>